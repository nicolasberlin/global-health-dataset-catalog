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737a5b5934b08" /><Relationship Type="http://schemas.openxmlformats.org/officeDocument/2006/relationships/extended-properties" Target="/docProps/app.xml" Id="R76ea4a7b0ccd436b" /><Relationship Type="http://schemas.openxmlformats.org/officeDocument/2006/relationships/officeDocument" Target="/ppt/presentation.xml" Id="R275ba7259a5244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88fb0ae254a84"/>
  </p:sldMasterIdLst>
  <p:notesMasterIdLst>
    <p:notesMasterId xmlns:r="http://schemas.openxmlformats.org/officeDocument/2006/relationships" r:id="R236de9a0213b4024"/>
  </p:notesMasterIdLst>
  <p:sldIdLst>
    <p:sldId xmlns:r="http://schemas.openxmlformats.org/officeDocument/2006/relationships" id="256" r:id="Rfba4f32fa63e437c"/>
    <p:sldId xmlns:r="http://schemas.openxmlformats.org/officeDocument/2006/relationships" id="257" r:id="Rea516d91df384094"/>
    <p:sldId xmlns:r="http://schemas.openxmlformats.org/officeDocument/2006/relationships" id="258" r:id="Rc2c50bbb84414a4c"/>
    <p:sldId xmlns:r="http://schemas.openxmlformats.org/officeDocument/2006/relationships" id="259" r:id="Ra315ea76b45942d0"/>
    <p:sldId xmlns:r="http://schemas.openxmlformats.org/officeDocument/2006/relationships" id="260" r:id="R8896b199939d4aaa"/>
    <p:sldId xmlns:r="http://schemas.openxmlformats.org/officeDocument/2006/relationships" id="261" r:id="R587ddbf7fe684dea"/>
    <p:sldId xmlns:r="http://schemas.openxmlformats.org/officeDocument/2006/relationships" id="262" r:id="R2f9dc1118f7f43ff"/>
    <p:sldId xmlns:r="http://schemas.openxmlformats.org/officeDocument/2006/relationships" id="263" r:id="R38f6334328be4171"/>
    <p:sldId xmlns:r="http://schemas.openxmlformats.org/officeDocument/2006/relationships" id="264" r:id="R4c9854a081074b7a"/>
    <p:sldId xmlns:r="http://schemas.openxmlformats.org/officeDocument/2006/relationships" id="265" r:id="R0fba40018b254f8d"/>
    <p:sldId xmlns:r="http://schemas.openxmlformats.org/officeDocument/2006/relationships" id="266" r:id="Rd9969057f1c446d0"/>
    <p:sldId xmlns:r="http://schemas.openxmlformats.org/officeDocument/2006/relationships" id="267" r:id="R104792b6eb6844bf"/>
    <p:sldId xmlns:r="http://schemas.openxmlformats.org/officeDocument/2006/relationships" id="268" r:id="R21af4669ec2f44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ad8709e9f542b0" /><Relationship Type="http://schemas.openxmlformats.org/officeDocument/2006/relationships/slideMaster" Target="/ppt/slideMasters/slideMaster1.xml" Id="R29988fb0ae254a84" /><Relationship Type="http://schemas.openxmlformats.org/officeDocument/2006/relationships/notesMaster" Target="/ppt/notesMasters/notesMaster1.xml" Id="R236de9a0213b4024" /><Relationship Type="http://schemas.openxmlformats.org/officeDocument/2006/relationships/presProps" Target="/ppt/presProps.xml" Id="R3e0d6a5706144b3a" /><Relationship Type="http://schemas.openxmlformats.org/officeDocument/2006/relationships/viewProps" Target="/ppt/viewProps.xml" Id="Rfbd05f27c03f4598" /><Relationship Type="http://schemas.openxmlformats.org/officeDocument/2006/relationships/tableStyles" Target="/ppt/tableStyles.xml" Id="Rd9cd9190cd214b5e" /><Relationship Type="http://schemas.openxmlformats.org/officeDocument/2006/relationships/slide" Target="/ppt/slides/slide1.xml" Id="Rfba4f32fa63e437c" /><Relationship Type="http://schemas.openxmlformats.org/officeDocument/2006/relationships/slide" Target="/ppt/slides/slide2.xml" Id="Rea516d91df384094" /><Relationship Type="http://schemas.openxmlformats.org/officeDocument/2006/relationships/slide" Target="/ppt/slides/slide3.xml" Id="Rc2c50bbb84414a4c" /><Relationship Type="http://schemas.openxmlformats.org/officeDocument/2006/relationships/slide" Target="/ppt/slides/slide4.xml" Id="Ra315ea76b45942d0" /><Relationship Type="http://schemas.openxmlformats.org/officeDocument/2006/relationships/slide" Target="/ppt/slides/slide5.xml" Id="R8896b199939d4aaa" /><Relationship Type="http://schemas.openxmlformats.org/officeDocument/2006/relationships/slide" Target="/ppt/slides/slide6.xml" Id="R587ddbf7fe684dea" /><Relationship Type="http://schemas.openxmlformats.org/officeDocument/2006/relationships/slide" Target="/ppt/slides/slide7.xml" Id="R2f9dc1118f7f43ff" /><Relationship Type="http://schemas.openxmlformats.org/officeDocument/2006/relationships/slide" Target="/ppt/slides/slide8.xml" Id="R38f6334328be4171" /><Relationship Type="http://schemas.openxmlformats.org/officeDocument/2006/relationships/slide" Target="/ppt/slides/slide9.xml" Id="R4c9854a081074b7a" /><Relationship Type="http://schemas.openxmlformats.org/officeDocument/2006/relationships/slide" Target="/ppt/slides/slide10.xml" Id="R0fba40018b254f8d" /><Relationship Type="http://schemas.openxmlformats.org/officeDocument/2006/relationships/slide" Target="/ppt/slides/slide11.xml" Id="Rd9969057f1c446d0" /><Relationship Type="http://schemas.openxmlformats.org/officeDocument/2006/relationships/slide" Target="/ppt/slides/slide12.xml" Id="R104792b6eb6844bf" /><Relationship Type="http://schemas.openxmlformats.org/officeDocument/2006/relationships/slide" Target="/ppt/slides/slide13.xml" Id="R21af4669ec2f44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6cf4090860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bab179aa946c6" /><Relationship Type="http://schemas.openxmlformats.org/officeDocument/2006/relationships/notesMaster" Target="/ppt/notesMasters/notesMaster1.xml" Id="R18db23b116734a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130103e3ca49c3" /><Relationship Type="http://schemas.openxmlformats.org/officeDocument/2006/relationships/notesMaster" Target="/ppt/notesMasters/notesMaster1.xml" Id="Rc021f8094cda40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6a7d94ec414876" /><Relationship Type="http://schemas.openxmlformats.org/officeDocument/2006/relationships/notesMaster" Target="/ppt/notesMasters/notesMaster1.xml" Id="R7bc22b375a8b40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c7a3832b284d40" /><Relationship Type="http://schemas.openxmlformats.org/officeDocument/2006/relationships/notesMaster" Target="/ppt/notesMasters/notesMaster1.xml" Id="R2b3a604b02ae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0c6f5d5854695" /><Relationship Type="http://schemas.openxmlformats.org/officeDocument/2006/relationships/notesMaster" Target="/ppt/notesMasters/notesMaster1.xml" Id="R99171beccffc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74b90579fd42d9" /><Relationship Type="http://schemas.openxmlformats.org/officeDocument/2006/relationships/notesMaster" Target="/ppt/notesMasters/notesMaster1.xml" Id="Rdda13615ff244f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f0a90b0c7543f8" /><Relationship Type="http://schemas.openxmlformats.org/officeDocument/2006/relationships/notesMaster" Target="/ppt/notesMasters/notesMaster1.xml" Id="Ra69ec44a7bf24c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053ee9c3464b95" /><Relationship Type="http://schemas.openxmlformats.org/officeDocument/2006/relationships/notesMaster" Target="/ppt/notesMasters/notesMaster1.xml" Id="R90119e8ebaa046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af6f2ff9764f14" /><Relationship Type="http://schemas.openxmlformats.org/officeDocument/2006/relationships/notesMaster" Target="/ppt/notesMasters/notesMaster1.xml" Id="Rbd42b60a330141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bbc1a57796466f" /><Relationship Type="http://schemas.openxmlformats.org/officeDocument/2006/relationships/notesMaster" Target="/ppt/notesMasters/notesMaster1.xml" Id="Re8a170da358d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ef92b6f61d47a6" /><Relationship Type="http://schemas.openxmlformats.org/officeDocument/2006/relationships/notesMaster" Target="/ppt/notesMasters/notesMaster1.xml" Id="Re99c180a67b444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9ff57d8e924f3a" /><Relationship Type="http://schemas.openxmlformats.org/officeDocument/2006/relationships/notesMaster" Target="/ppt/notesMasters/notesMaster1.xml" Id="Rcc4cfdd61b694b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31dfa2c388459f" /><Relationship Type="http://schemas.openxmlformats.org/officeDocument/2006/relationships/notesMaster" Target="/ppt/notesMasters/notesMaster1.xml" Id="Rcb42b0115991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web application and data-engineering MVP, not as a scientific dataset analysis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a software project focused on search, collection, validation and cataloguing.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over-claiming: the issue is not a new medical discovery, it is a discovery and cataloguing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concise problem statement to say aloud. It is deliberately focused on users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objective as an application objective, not a research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main components and emphasize separation of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two-stage logic: search produces candidates; automatic collection validates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manual source collection and automatic candidate collection share the same downstream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API contract can also be inspected through Swagger during local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what currently exists. Keep wording careful around source officiality.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the project is not just a simple CRUD app; it contains validation gates and safety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future work as natural engineering hardening rather than failure of the current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by repeating the core pipeline and software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4ae386909448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2a1bd131d422e" /><Relationship Type="http://schemas.openxmlformats.org/officeDocument/2006/relationships/slideLayout" Target="/ppt/slideLayouts/slideLayout1.xml" Id="R22cb3594897c4cd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b3594897c4cd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fc05a2aa249b7" /><Relationship Type="http://schemas.openxmlformats.org/officeDocument/2006/relationships/image" Target="/ppt/media/image.png" Id="Re5fdff7a313b44cf" /><Relationship Type="http://schemas.openxmlformats.org/officeDocument/2006/relationships/image" Target="/ppt/media/image2.png" Id="R4b7c509d8bcf45e9" /><Relationship Type="http://schemas.openxmlformats.org/officeDocument/2006/relationships/notesSlide" Target="/ppt/notesSlides/notesSlide1.xml" Id="R656c4ec5467249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4e7b7e7e24c63" /><Relationship Type="http://schemas.openxmlformats.org/officeDocument/2006/relationships/image" Target="/ppt/media/image3.png" Id="R8db7310a9bdc4d15" /><Relationship Type="http://schemas.openxmlformats.org/officeDocument/2006/relationships/notesSlide" Target="/ppt/notesSlides/notesSlide2.xml" Id="R3b12f48702d6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c3bb860624964" /><Relationship Type="http://schemas.openxmlformats.org/officeDocument/2006/relationships/image" Target="/ppt/media/image3.png" Id="Reb044c903d4a454f" /><Relationship Type="http://schemas.openxmlformats.org/officeDocument/2006/relationships/notesSlide" Target="/ppt/notesSlides/notesSlide3.xml" Id="R99636b33d5564f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fa1c9a6d8469b" /><Relationship Type="http://schemas.openxmlformats.org/officeDocument/2006/relationships/image" Target="/ppt/media/image2.png" Id="R9e1fe19ea50a4d53" /><Relationship Type="http://schemas.openxmlformats.org/officeDocument/2006/relationships/notesSlide" Target="/ppt/notesSlides/notesSlide4.xml" Id="Reca686c0bf7a4f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35401165b4815" /><Relationship Type="http://schemas.openxmlformats.org/officeDocument/2006/relationships/image" Target="/ppt/media/image3.png" Id="R43e2086941b344a1" /><Relationship Type="http://schemas.openxmlformats.org/officeDocument/2006/relationships/notesSlide" Target="/ppt/notesSlides/notesSlide5.xml" Id="R569d0cb001b142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5bc036b3b4bcd" /><Relationship Type="http://schemas.openxmlformats.org/officeDocument/2006/relationships/image" Target="/ppt/media/image3.png" Id="Rdde17a36a5ef4b21" /><Relationship Type="http://schemas.openxmlformats.org/officeDocument/2006/relationships/notesSlide" Target="/ppt/notesSlides/notesSlide6.xml" Id="R5616821d853047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6835b96ae4e29" /><Relationship Type="http://schemas.openxmlformats.org/officeDocument/2006/relationships/image" Target="/ppt/media/image3.png" Id="Rd58469d998bb4a1c" /><Relationship Type="http://schemas.openxmlformats.org/officeDocument/2006/relationships/notesSlide" Target="/ppt/notesSlides/notesSlide7.xml" Id="R58ce6204f4344e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25af0e35a4f80" /><Relationship Type="http://schemas.openxmlformats.org/officeDocument/2006/relationships/image" Target="/ppt/media/image3.png" Id="R6e04dc78588f4e4f" /><Relationship Type="http://schemas.openxmlformats.org/officeDocument/2006/relationships/notesSlide" Target="/ppt/notesSlides/notesSlide8.xml" Id="R98ef4819b91446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bccbc2d9145e4" /><Relationship Type="http://schemas.openxmlformats.org/officeDocument/2006/relationships/image" Target="/ppt/media/image3.png" Id="R46fd868d9bae40f7" /><Relationship Type="http://schemas.openxmlformats.org/officeDocument/2006/relationships/notesSlide" Target="/ppt/notesSlides/notesSlide9.xml" Id="R68925cc9c565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7d4720ed24d1c" /><Relationship Type="http://schemas.openxmlformats.org/officeDocument/2006/relationships/image" Target="/ppt/media/image3.png" Id="Ra79c5e4365e14941" /><Relationship Type="http://schemas.openxmlformats.org/officeDocument/2006/relationships/notesSlide" Target="/ppt/notesSlides/notesSlide10.xml" Id="R8bc84ba7108542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b895a410d43b9" /><Relationship Type="http://schemas.openxmlformats.org/officeDocument/2006/relationships/image" Target="/ppt/media/image3.png" Id="R09fd591ded674145" /><Relationship Type="http://schemas.openxmlformats.org/officeDocument/2006/relationships/notesSlide" Target="/ppt/notesSlides/notesSlide11.xml" Id="R87d5dcbcec4d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3f0fd67249a4" /><Relationship Type="http://schemas.openxmlformats.org/officeDocument/2006/relationships/image" Target="/ppt/media/image3.png" Id="R8d6752781381442b" /><Relationship Type="http://schemas.openxmlformats.org/officeDocument/2006/relationships/notesSlide" Target="/ppt/notesSlides/notesSlide12.xml" Id="R5cce3aff3abd4f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02806694c4ce3" /><Relationship Type="http://schemas.openxmlformats.org/officeDocument/2006/relationships/image" Target="/ppt/media/image2.png" Id="R1e6b52b3e7fd4b01" /><Relationship Type="http://schemas.openxmlformats.org/officeDocument/2006/relationships/notesSlide" Target="/ppt/notesSlides/notesSlide13.xml" Id="Rbf4d7f2b831146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408FB9-140B-4742-8B27-CF0F168B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D733FF-7F85-48D0-8481-5849361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STUDENT PRESENTATION</a:t>
            </a:r>
            <a:endParaRPr sz="13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67926F-E8B8-4E14-8087-54C6BCF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14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EPFL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F6FBF8-89D2-4A81-94AF-E9639BC8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78992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Global Health</a:t>
            </a:r>
            <a:endParaRPr sz="450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Dataset Catalog</a:t>
            </a:r>
            <a:endParaRPr sz="45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69F9EA-9A70-4026-99B9-E936339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Web application for dataset discovery, validation and cataloguing</a:t>
            </a:r>
            <a:endParaRPr sz="175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4810192-E103-4F41-91CA-1FD7D9D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66344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dff7a313b44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653" y="1627632"/>
            <a:ext cx="4056670" cy="224028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69F90D-EFDD-4414-B3AA-C7C7BABF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Nicolas Berlin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553FCC1-F33E-4E4A-9D65-46B05D7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Supervised by: David Sasu, Aurélien Macé</a:t>
            </a:r>
            <a:endParaRPr sz="125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September 2026</a:t>
            </a:r>
            <a:endParaRPr sz="125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509d8bcf45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084E9DA-343D-4FD5-9CDD-732DA6E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85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810036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E3B319-DD5A-4D98-B5BB-9449225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OVERVIEW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55D9474-93B3-4295-91E6-703B717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950C7D-CDB2-46A8-B165-5C6F926F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Presentation outline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7310a9bdc4d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942D314-AABF-4745-95EF-3055811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5591F2B-6E7F-49FB-B88D-41C9BF6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7DC100-3EE1-42A1-8BE4-63FCF2E5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28800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09B08BE-CE7D-4D09-938C-5FB24D0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938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09CBD8-AE97-4FEA-AAF0-F0D2FA00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96896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131E6E-D14E-4D57-BCEA-3943F59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87168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B233FC7-2735-4B96-9136-7B1278C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59689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D1A18E8-2A39-400F-9462-92B4AC8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55264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5609487-7787-47F0-B9FF-BE5805C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22ADAED-A82E-443D-BB54-EBA9D501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55264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System architecture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4ADE7F4-AD46-4C99-9B34-C636A2AD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04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624A594-945D-4E45-948F-BDCCC74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03904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98F9F7E-0F60-4A59-B786-AA93BD5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1363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Workflows &amp; implementation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286C480-D67F-4496-B8C5-C441502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05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0406196-B125-49CF-93F3-BA3F488F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62272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F48706D-8927-4B67-98D4-B4F85E2D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572000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Current status &amp; future work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346C264-614F-4B55-87C0-E6CAB44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4114800" cy="265176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4136001-7922-4534-912D-750601E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12848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Project focus</a:t>
            </a:r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7F3E77C-CA76-40C2-AFA9-C5CA3E5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3246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A metadata-first catalogue that helps users find dataset pages and inspect validated access links.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591697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A4DC10-35E6-4B3A-B43A-5817998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F99931F-FF58-47EE-85EB-AFE72AC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928F2A-1805-4F0D-B8E6-65FBFC1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Why this application is needed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44c903d4a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F2A08BE-19DD-4488-9F03-300D4582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27B564A-5099-4BF5-98D4-50A5B20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E6E7A7-D87E-48D5-AD0E-8F43A02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6AC247-4E6C-408C-B17A-32B662A9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Heterogeneous sources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C839E9E-B57E-4083-91D0-9F5EFE48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Dataset pages are spread across repository metadata, open-data portals, APIs and regular websites.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C9B4DC-EC08-4161-AADC-94080E21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FCF8120-25B3-4416-84B2-52910C4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C37BB4D-83C5-4E01-BFAA-3388DA3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Manual checks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01D579-D39F-4ED6-B20E-DDC11B2B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Users still need to verify relevance, dataset-page identity, download links and API availability.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9E99E55-5916-47FF-852A-6A9779A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2BC6582-E172-46D6-A241-09A4EC5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21D761A-9CF5-4586-8EBD-D75C170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No unified workflow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6796BAD-F86F-4A03-8E2F-52D8BCE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Search, classification, validation and persistence are often handled as separate steps.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0178262-73E8-493D-B028-5C551A01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469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5C6670"/>
                </a:solidFill>
                <a:latin typeface="DM Serif Text"/>
                <a:ea typeface="DM Serif Text"/>
                <a:cs typeface="DM Serif Text"/>
              </a:rPr>
              <a:t>The project addresses the workflow around dataset metadata. It does not perform scientific analysis of the datasets.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1689812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4B3762-C043-4C7C-AFE7-28A4291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362F70F-F85E-4BA7-A220-7E66E18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FE7">
              <a:alpha val="90000"/>
            </a:srgbClr>
          </a:solidFill>
          <a:ln xmlns:a="http://schemas.openxmlformats.org/drawingml/2006/main" w="12700">
            <a:solidFill>
              <a:srgbClr val="68AFE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2D582E-0019-4883-A133-537A87B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STATEMENT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5DD749-20A3-4B17-BEC4-223EEA3D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16152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Technical users need one workflow to discover, classify, validate and catalogue global health dataset pages.</a:t>
            </a:r>
            <a:endParaRPr sz="4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C7FCF5-8194-4490-A754-11AD959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A DATA ENGINEERING / SOFTWARE ENGINEERING PERSPECTIVE</a:t>
            </a:r>
            <a:endParaRPr sz="1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e19ea50a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639EF79-F799-46DC-B5A9-124F7587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B0D9B5-BD21-426C-BFE4-8BA3150C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96012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942937A-F8A5-40A5-9A3E-D398F642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04104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C43A0"/>
                </a:solidFill>
                <a:latin typeface="Aptos"/>
                <a:ea typeface="Aptos"/>
                <a:cs typeface="Aptos"/>
              </a:rPr>
              <a:t>Scope: the application stores metadata and access links; it does not download or retain full dataset files.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866917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1C2CF0-834B-4479-A07C-D92C793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2CB8A5-E786-4365-AEDE-247FEE2B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9B1247-1C1E-4135-BAC0-3619769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 and scope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2086941b344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5C0A39F-CE5E-4295-B5FE-93DC385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5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B3690F2-F58F-4AD4-BE79-900D11FC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4200"/>
            <a:ext cx="10149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How can one application discover and catalogue global health datasets across heterogeneous sources?</a:t>
            </a:r>
            <a:endParaRPr sz="32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423090F-AC2E-401D-AAFD-16EC365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A663D6A-B0B7-4BDA-8B4E-E81B576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377B8B-0DB7-4C4E-AEB5-144F1C1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&amp; discover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8195F95-8C50-4285-BB03-D265322E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local PostgreSQL first and fall back to external repository metadata when needed.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CC31D90-6A09-4671-85FE-3397DD6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3A722BB-7ACF-4059-AC10-234FEDAE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D7C8E38-F6D4-443C-B39F-94D2B61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Classify &amp; validate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DFFEF4D-8550-4F18-BFE3-9046998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 EPFL RCP to classify candidates and validate candidate download/API links.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A74071B-5585-4A47-B45B-1D2E2B8B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AA04998-0DAF-4070-B918-8254FAC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89F1E35-68C8-4FB1-B8F5-CB104B3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Catalogue &amp; inspect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D0FCE68-ABF5-4A99-B1FA-F2A11715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Persist datasets that pass page classification and distribution validation.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143570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EBA46E-5036-408A-8D2E-F3C70FBD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SYSTEM ARCHITECTURE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8B6D72-08C7-4CE5-A562-A9B2290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5D2DB5-687D-4285-B584-9A177D50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55460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React, FastAPI, services and PostgreSQL</a:t>
            </a:r>
            <a:endParaRPr sz="3600"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17a36a5ef4b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44A12C5-29AB-4A9C-B331-C435983B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ptos"/>
                <a:ea typeface="Aptos"/>
                <a:cs typeface="Aptos"/>
              </a:rPr>
              <a:t>6</a:t>
            </a:r>
            <a:endParaRPr sz="850"/>
          </a:p>
        </p:txBody>
      </p:sp>
      <p:sp>
        <p:nvSpPr>
          <p:cNvPr id="30" name="architecture-frontend">
            <a:extLst xmlns:a="http://schemas.openxmlformats.org/drawingml/2006/main">
              <a:ext uri="{FF2B5EF4-FFF2-40B4-BE49-F238E27FC236}">
                <a16:creationId xmlns:a16="http://schemas.microsoft.com/office/drawing/2014/main" id="{0EB8F83C-10B0-4E9F-9D04-AECA9A4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architecture-backend">
            <a:extLst xmlns:a="http://schemas.openxmlformats.org/drawingml/2006/main">
              <a:ext uri="{FF2B5EF4-FFF2-40B4-BE49-F238E27FC236}">
                <a16:creationId xmlns:a16="http://schemas.microsoft.com/office/drawing/2014/main" id="{37E20DB3-7FEB-4AD9-8047-1C72F21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2" name="architecture-search">
            <a:extLst xmlns:a="http://schemas.openxmlformats.org/drawingml/2006/main">
              <a:ext uri="{FF2B5EF4-FFF2-40B4-BE49-F238E27FC236}">
                <a16:creationId xmlns:a16="http://schemas.microsoft.com/office/drawing/2014/main" id="{48C9C2DC-EB25-44B9-BF02-938CB114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333625" cy="8763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Repository search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 + RCP relevance</a:t>
            </a:r>
          </a:p>
        </p:txBody>
      </p:sp>
      <p:sp>
        <p:nvSpPr>
          <p:cNvPr id="33" name="architecture-collector">
            <a:extLst xmlns:a="http://schemas.openxmlformats.org/drawingml/2006/main">
              <a:ext uri="{FF2B5EF4-FFF2-40B4-BE49-F238E27FC236}">
                <a16:creationId xmlns:a16="http://schemas.microsoft.com/office/drawing/2014/main" id="{77D2BC83-1E9E-49CC-98EB-FEBAA05F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333625" cy="10001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Collector pipeline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 + page RCP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link validation</a:t>
            </a:r>
          </a:p>
        </p:txBody>
      </p:sp>
      <p:sp>
        <p:nvSpPr>
          <p:cNvPr id="34" name="architecture-database">
            <a:extLst xmlns:a="http://schemas.openxmlformats.org/drawingml/2006/main">
              <a:ext uri="{FF2B5EF4-FFF2-40B4-BE49-F238E27FC236}">
                <a16:creationId xmlns:a16="http://schemas.microsoft.com/office/drawing/2014/main" id="{D7A2EB88-DB5C-4AFA-B25B-63A87B88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381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sources, jobs and catalogue</a:t>
            </a:r>
          </a:p>
        </p:txBody>
      </p:sp>
      <p:cxnSp>
        <p:nvCxnSpPr>
          <p:cNvPr id="5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23837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381500" y="2390775"/>
            <a:ext cx="7143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381500" y="3105150"/>
            <a:ext cx="714375" cy="871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32" idx="3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429500" y="2390775"/>
            <a:ext cx="2333625" cy="2762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33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7429500" y="3619500"/>
            <a:ext cx="2333625" cy="35718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0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420EC225-9400-47ED-9104-0F7ECD1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FastAPI orchestrates search and collection. PostgreSQL supports local lookup, job state and validated persistence.</a:t>
            </a:r>
          </a:p>
        </p:txBody>
      </p:sp>
    </p:spTree>
    <p:extLst>
      <p:ext uri="{BB962C8B-B14F-4D97-AF65-F5344CB8AC3E}">
        <p14:creationId xmlns:p14="http://schemas.microsoft.com/office/powerpoint/2010/main" val="1651005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F39D56-B9C4-42A4-94B2-5BB7331C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1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4BA077-1EE0-4F9F-98FE-C37DF084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09C5A7-3C80-4447-AA2F-8E64FA0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70788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Repository search and automatic collection</a:t>
            </a:r>
            <a:endParaRPr sz="3600"/>
          </a:p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469d998bb4a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D41ED3F-B0B5-4D95-85A5-62DB9340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7</a:t>
            </a:r>
            <a:endParaRPr sz="1000"/>
          </a:p>
        </p:txBody>
      </p:sp>
      <p:sp>
        <p:nvSpPr>
          <p:cNvPr id="27" name="search-query">
            <a:extLst xmlns:a="http://schemas.openxmlformats.org/drawingml/2006/main">
              <a:ext uri="{FF2B5EF4-FFF2-40B4-BE49-F238E27FC236}">
                <a16:creationId xmlns:a16="http://schemas.microsoft.com/office/drawing/2014/main" id="{950534CF-5749-47A6-89B7-3507383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285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28" name="search-local">
            <a:extLst xmlns:a="http://schemas.openxmlformats.org/drawingml/2006/main">
              <a:ext uri="{FF2B5EF4-FFF2-40B4-BE49-F238E27FC236}">
                <a16:creationId xmlns:a16="http://schemas.microsoft.com/office/drawing/2014/main" id="{3995641C-C9D8-4790-BA5F-E544CC5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428750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9" name="search-datacite">
            <a:extLst xmlns:a="http://schemas.openxmlformats.org/drawingml/2006/main">
              <a:ext uri="{FF2B5EF4-FFF2-40B4-BE49-F238E27FC236}">
                <a16:creationId xmlns:a16="http://schemas.microsoft.com/office/drawing/2014/main" id="{16EBE95B-81E9-46A4-963F-D910B37D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0" name="search-relevance">
            <a:extLst xmlns:a="http://schemas.openxmlformats.org/drawingml/2006/main">
              <a:ext uri="{FF2B5EF4-FFF2-40B4-BE49-F238E27FC236}">
                <a16:creationId xmlns:a16="http://schemas.microsoft.com/office/drawing/2014/main" id="{4DAAB32E-07ED-43A1-A66B-4921139C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5716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relevance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1" name="search-job">
            <a:extLst xmlns:a="http://schemas.openxmlformats.org/drawingml/2006/main">
              <a:ext uri="{FF2B5EF4-FFF2-40B4-BE49-F238E27FC236}">
                <a16:creationId xmlns:a16="http://schemas.microsoft.com/office/drawing/2014/main" id="{056E9ED4-7CFF-4924-9088-7F814245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66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Reserve or reuse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collection job</a:t>
            </a:r>
          </a:p>
        </p:txBody>
      </p:sp>
      <p:sp>
        <p:nvSpPr>
          <p:cNvPr id="32" name="search-stored">
            <a:extLst xmlns:a="http://schemas.openxmlformats.org/drawingml/2006/main">
              <a:ext uri="{FF2B5EF4-FFF2-40B4-BE49-F238E27FC236}">
                <a16:creationId xmlns:a16="http://schemas.microsoft.com/office/drawing/2014/main" id="{A23CD659-3192-4E84-9C49-D8992D20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3" name="search-local-return">
            <a:extLst xmlns:a="http://schemas.openxmlformats.org/drawingml/2006/main">
              <a:ext uri="{FF2B5EF4-FFF2-40B4-BE49-F238E27FC236}">
                <a16:creationId xmlns:a16="http://schemas.microsoft.com/office/drawing/2014/main" id="{3D68DAE1-EB8A-46A8-A8AE-1738DF6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71875"/>
            <a:ext cx="1619250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match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Return immediately</a:t>
            </a:r>
          </a:p>
        </p:txBody>
      </p:sp>
      <p:sp>
        <p:nvSpPr>
          <p:cNvPr id="34" name="search-rejected">
            <a:extLst xmlns:a="http://schemas.openxmlformats.org/drawingml/2006/main">
              <a:ext uri="{FF2B5EF4-FFF2-40B4-BE49-F238E27FC236}">
                <a16:creationId xmlns:a16="http://schemas.microsoft.com/office/drawing/2014/main" id="{7E0CB1A6-4A7B-4B11-8620-C8B4829D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762125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Rejected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collection</a:t>
            </a:r>
          </a:p>
        </p:txBody>
      </p:sp>
      <p:sp>
        <p:nvSpPr>
          <p:cNvPr id="35" name="search-validation">
            <a:extLst xmlns:a="http://schemas.openxmlformats.org/drawingml/2006/main">
              <a:ext uri="{FF2B5EF4-FFF2-40B4-BE49-F238E27FC236}">
                <a16:creationId xmlns:a16="http://schemas.microsoft.com/office/drawing/2014/main" id="{114AE42E-C9FE-48C9-B207-5668A0A8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1857375" cy="6477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RCP +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 validation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4500" y="2705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71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476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5723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8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0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786563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8929688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5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9858375" y="3076575"/>
            <a:ext cx="1214438" cy="819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4" name="search-no-local-label">
            <a:extLst xmlns:a="http://schemas.openxmlformats.org/drawingml/2006/main">
              <a:ext uri="{FF2B5EF4-FFF2-40B4-BE49-F238E27FC236}">
                <a16:creationId xmlns:a16="http://schemas.microsoft.com/office/drawing/2014/main" id="{7BF73E7A-0E63-4F38-9A4C-2462CD72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No local match</a:t>
            </a:r>
          </a:p>
        </p:txBody>
      </p:sp>
      <p:sp>
        <p:nvSpPr>
          <p:cNvPr id="45" name="search-accepted-label">
            <a:extLst xmlns:a="http://schemas.openxmlformats.org/drawingml/2006/main">
              <a:ext uri="{FF2B5EF4-FFF2-40B4-BE49-F238E27FC236}">
                <a16:creationId xmlns:a16="http://schemas.microsoft.com/office/drawing/2014/main" id="{1D9974E4-76AA-48AE-B9B0-37EBDBF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6" name="search-valid-label">
            <a:extLst xmlns:a="http://schemas.openxmlformats.org/drawingml/2006/main">
              <a:ext uri="{FF2B5EF4-FFF2-40B4-BE49-F238E27FC236}">
                <a16:creationId xmlns:a16="http://schemas.microsoft.com/office/drawing/2014/main" id="{934363F3-D2CF-45BE-9ACF-DAA3FF9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Valid only</a:t>
            </a:r>
          </a:p>
        </p:txBody>
      </p:sp>
      <p:sp>
        <p:nvSpPr>
          <p:cNvPr id="47" name="search-rule">
            <a:extLst xmlns:a="http://schemas.openxmlformats.org/drawingml/2006/main">
              <a:ext uri="{FF2B5EF4-FFF2-40B4-BE49-F238E27FC236}">
                <a16:creationId xmlns:a16="http://schemas.microsoft.com/office/drawing/2014/main" id="{C20E8E09-751D-48CA-8D1E-0E248C7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 includes relevant and somewhat relevant. External repository metadata is never copied directly into the catalogue.</a:t>
            </a:r>
          </a:p>
        </p:txBody>
      </p:sp>
    </p:spTree>
    <p:extLst>
      <p:ext uri="{BB962C8B-B14F-4D97-AF65-F5344CB8AC3E}">
        <p14:creationId xmlns:p14="http://schemas.microsoft.com/office/powerpoint/2010/main" val="1009850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8A1D23-C0E8-467F-9BA1-161A2B4A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2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56F9BA1-E413-4AC7-A052-09E2EB2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D123A9-6B80-4B9B-8049-50F663BC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 collection pipeline</a:t>
            </a:r>
            <a:endParaRPr sz="3600"/>
          </a:p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dc78588f4e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9C2E7E2-A01C-4CB9-854C-04DEEB74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8</a:t>
            </a:r>
            <a:endParaRPr sz="1000"/>
          </a:p>
        </p:txBody>
      </p:sp>
      <p:sp>
        <p:nvSpPr>
          <p:cNvPr id="32" name="collection-configured">
            <a:extLst xmlns:a="http://schemas.openxmlformats.org/drawingml/2006/main">
              <a:ext uri="{FF2B5EF4-FFF2-40B4-BE49-F238E27FC236}">
                <a16:creationId xmlns:a16="http://schemas.microsoft.com/office/drawing/2014/main" id="{74736537-491A-4E37-95DD-E19D6F2C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Configured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3" name="collection-candidate">
            <a:extLst xmlns:a="http://schemas.openxmlformats.org/drawingml/2006/main">
              <a:ext uri="{FF2B5EF4-FFF2-40B4-BE49-F238E27FC236}">
                <a16:creationId xmlns:a16="http://schemas.microsoft.com/office/drawing/2014/main" id="{B2268412-6B02-49DE-A227-6FF63CA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432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Accepted repository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4" name="collection-discovery">
            <a:extLst xmlns:a="http://schemas.openxmlformats.org/drawingml/2006/main">
              <a:ext uri="{FF2B5EF4-FFF2-40B4-BE49-F238E27FC236}">
                <a16:creationId xmlns:a16="http://schemas.microsoft.com/office/drawing/2014/main" id="{0BC128EF-6757-49BF-90DD-8A65CC54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source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through an adapter</a:t>
            </a:r>
          </a:p>
        </p:txBody>
      </p:sp>
      <p:sp>
        <p:nvSpPr>
          <p:cNvPr id="35" name="collection-landing">
            <a:extLst xmlns:a="http://schemas.openxmlformats.org/drawingml/2006/main">
              <a:ext uri="{FF2B5EF4-FFF2-40B4-BE49-F238E27FC236}">
                <a16:creationId xmlns:a16="http://schemas.microsoft.com/office/drawing/2014/main" id="{A29E9AA7-E253-4D3E-9B82-8349174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 candidate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page only</a:t>
            </a:r>
          </a:p>
        </p:txBody>
      </p:sp>
      <p:sp>
        <p:nvSpPr>
          <p:cNvPr id="36" name="collection-extraction">
            <a:extLst xmlns:a="http://schemas.openxmlformats.org/drawingml/2006/main">
              <a:ext uri="{FF2B5EF4-FFF2-40B4-BE49-F238E27FC236}">
                <a16:creationId xmlns:a16="http://schemas.microsoft.com/office/drawing/2014/main" id="{E9294E69-56D0-473D-96DE-4E675B5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71450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Metadata +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extraction</a:t>
            </a:r>
          </a:p>
        </p:txBody>
      </p:sp>
      <p:sp>
        <p:nvSpPr>
          <p:cNvPr id="37" name="collection-page-rcp">
            <a:extLst xmlns:a="http://schemas.openxmlformats.org/drawingml/2006/main">
              <a:ext uri="{FF2B5EF4-FFF2-40B4-BE49-F238E27FC236}">
                <a16:creationId xmlns:a16="http://schemas.microsoft.com/office/drawing/2014/main" id="{F48AF1D6-D733-436B-A5A8-B312615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page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38" name="collection-links">
            <a:extLst xmlns:a="http://schemas.openxmlformats.org/drawingml/2006/main">
              <a:ext uri="{FF2B5EF4-FFF2-40B4-BE49-F238E27FC236}">
                <a16:creationId xmlns:a16="http://schemas.microsoft.com/office/drawing/2014/main" id="{D4D64EBE-187E-49E5-A978-1AC84CB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Download / API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collection-database">
            <a:extLst xmlns:a="http://schemas.openxmlformats.org/drawingml/2006/main">
              <a:ext uri="{FF2B5EF4-FFF2-40B4-BE49-F238E27FC236}">
                <a16:creationId xmlns:a16="http://schemas.microsoft.com/office/drawing/2014/main" id="{48E57F10-A858-4E3F-8919-C7FD823D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1000125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cxnSp>
        <p:nvCxnSpPr>
          <p:cNvPr id="66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857375" y="2152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857375" y="3486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5750" y="2152650"/>
            <a:ext cx="666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095750" y="2867025"/>
            <a:ext cx="666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77000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429625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38225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headEnd type="triangle" w="sm" len="sm"/>
          </a:ln>
        </p:spPr>
      </p:cxnSp>
      <p:sp>
        <p:nvSpPr>
          <p:cNvPr id="47" name="collection-families-heading">
            <a:extLst xmlns:a="http://schemas.openxmlformats.org/drawingml/2006/main">
              <a:ext uri="{FF2B5EF4-FFF2-40B4-BE49-F238E27FC236}">
                <a16:creationId xmlns:a16="http://schemas.microsoft.com/office/drawing/2014/main" id="{B498507F-ED6A-4458-B6FD-87D42865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Discovery families for configured sources</a:t>
            </a:r>
          </a:p>
        </p:txBody>
      </p:sp>
      <p:sp>
        <p:nvSpPr>
          <p:cNvPr id="48" name="family-ckan">
            <a:extLst xmlns:a="http://schemas.openxmlformats.org/drawingml/2006/main">
              <a:ext uri="{FF2B5EF4-FFF2-40B4-BE49-F238E27FC236}">
                <a16:creationId xmlns:a16="http://schemas.microsoft.com/office/drawing/2014/main" id="{1C9A8740-C277-433F-84CA-10D6757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CKAN</a:t>
            </a:r>
          </a:p>
        </p:txBody>
      </p:sp>
      <p:sp>
        <p:nvSpPr>
          <p:cNvPr id="49" name="family-socrata">
            <a:extLst xmlns:a="http://schemas.openxmlformats.org/drawingml/2006/main">
              <a:ext uri="{FF2B5EF4-FFF2-40B4-BE49-F238E27FC236}">
                <a16:creationId xmlns:a16="http://schemas.microsoft.com/office/drawing/2014/main" id="{5418B8AA-DA24-4DBE-A48C-4F5746C1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Socrata</a:t>
            </a:r>
          </a:p>
        </p:txBody>
      </p:sp>
      <p:sp>
        <p:nvSpPr>
          <p:cNvPr id="50" name="family-datajson">
            <a:extLst xmlns:a="http://schemas.openxmlformats.org/drawingml/2006/main">
              <a:ext uri="{FF2B5EF4-FFF2-40B4-BE49-F238E27FC236}">
                <a16:creationId xmlns:a16="http://schemas.microsoft.com/office/drawing/2014/main" id="{28F9401E-6B1A-43BC-95A8-268BF41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data.json / DCAT</a:t>
            </a:r>
          </a:p>
        </p:txBody>
      </p:sp>
      <p:sp>
        <p:nvSpPr>
          <p:cNvPr id="51" name="family-web">
            <a:extLst xmlns:a="http://schemas.openxmlformats.org/drawingml/2006/main">
              <a:ext uri="{FF2B5EF4-FFF2-40B4-BE49-F238E27FC236}">
                <a16:creationId xmlns:a16="http://schemas.microsoft.com/office/drawing/2014/main" id="{A1D6D99B-689A-44C1-8D2A-BC7628FB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Generic websites</a:t>
            </a:r>
          </a:p>
        </p:txBody>
      </p:sp>
      <p:sp>
        <p:nvSpPr>
          <p:cNvPr id="52" name="collection-rule">
            <a:extLst xmlns:a="http://schemas.openxmlformats.org/drawingml/2006/main">
              <a:ext uri="{FF2B5EF4-FFF2-40B4-BE49-F238E27FC236}">
                <a16:creationId xmlns:a16="http://schemas.microsoft.com/office/drawing/2014/main" id="{DD3D9C5C-3EA9-467F-9E22-B4F0F5B9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The catalogue retains only datasets accepted by the page classifier and backed by at least one valid distribution.</a:t>
            </a:r>
          </a:p>
        </p:txBody>
      </p:sp>
    </p:spTree>
    <p:extLst>
      <p:ext uri="{BB962C8B-B14F-4D97-AF65-F5344CB8AC3E}">
        <p14:creationId xmlns:p14="http://schemas.microsoft.com/office/powerpoint/2010/main" val="70487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34B0F9-EA0F-42BA-A7CF-169805F6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IMPLEMENTATION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854B24B-B9C2-4A0E-98E6-A885B76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08F28E9-73B1-42DD-8505-B0DB21E6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42836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 and API contracts</a:t>
            </a:r>
            <a:endParaRPr sz="36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d868d9bae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977054-F1A1-4351-BF1A-A7A9B4B4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9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7A423F-02A1-4147-BAC7-125916E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6D458D-76E0-411E-85B0-4C9082D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D7AC457-633A-4D65-8007-949274D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 interface, progressive status and result display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A48B663-AF4E-44D4-9BDB-71C536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A1B80A7-1022-4196-9120-83980607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1A9572-D48C-44F7-9894-EDCE370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 validation, routes and job orchestration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A32799F-1313-47A6-9AFF-000E585C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46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AF01592-C47D-493D-9C82-5A6F895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A048042-D63E-4536-AD4E-7E86BBA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Search, sources, jobs, datasets and distributions</a:t>
            </a:r>
            <a:endParaRPr sz="10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63DB0C0-515A-4794-B202-07C9E718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A5B7E97-B29E-4A98-8362-746E91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Python collector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46FF1FE-7025-4E48-8122-9C765E47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Discovery, extraction, classification and validation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CAFFA5C-1529-49A4-8BF2-FFF7E7CA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914DD6-872F-4834-8249-3CC304D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EPFL RCP</a:t>
            </a: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F3F6F7A-23CA-40FC-8309-A15A7EE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LLM-based relevance and page classification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8062ADA-2C20-4540-AF23-A1CDFFBB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3659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Main API entry points</a:t>
            </a:r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2B8C60E-FED4-4174-89BD-CBB4648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38725"/>
            <a:ext cx="1069848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9050" tIns="19050" rIns="19050" bIns="1905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and fallback   POST /collector/search-datasets</a:t>
            </a:r>
            <a:endParaRPr sz="1600"/>
          </a:p>
          <a:p xmlns:a="http://schemas.openxmlformats.org/drawingml/2006/main">
            <a:pPr marL="0" indent="0" algn="l">
              <a:buNone/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+ reserve   POST /collector/classify-repository-result</a:t>
            </a:r>
            <a:endParaRPr sz="1600"/>
          </a:p>
          <a:p xmlns:a="http://schemas.openxmlformats.org/drawingml/2006/main">
            <a:pPr marL="0" indent="0" algn="l">
              <a:buNone/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Track collection   GET /collector/collection-jobs/{id}</a:t>
            </a:r>
            <a:endParaRPr sz="1600"/>
          </a:p>
          <a:p xmlns:a="http://schemas.openxmlformats.org/drawingml/2006/main">
            <a:pPr marL="0" indent="0" algn="l">
              <a:buNone/>
              <a:defRPr sz="1125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11111"/>
                </a:solidFill>
                <a:latin typeface="Aptos"/>
                <a:ea typeface="Aptos"/>
                <a:cs typeface="Aptos"/>
              </a:rPr>
              <a:t>Inspect catalogue   GET /collector/collected-datasets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84087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1609F0-8DBE-46C9-90F8-832439C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CURRENT STATUS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640430-DA24-4D50-9104-D2BD9E09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483678-B42B-49A9-89F2-604F3EC4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Implemented capabilities in the MVP</a:t>
            </a:r>
            <a:endParaRPr sz="36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c5e4365e1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574951D-5B5D-476B-8F32-1EE706E1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903D520-D6C2-49A3-83CF-CF9E250F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9A70CBC-A7CE-40F3-A15F-91DF8D42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previously collected datasets in PostgreSQL</a:t>
            </a:r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83D1018-E81F-4B14-B3D0-14A258C0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88C5052-CCDC-4960-A6D3-751C8008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Fall back to DataCite when no local result is found</a:t>
            </a:r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FCAB13D-A4E3-4CA6-8F48-C253CC66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536D7E8-40C9-4B17-9EDF-5CCB588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external candidates and automatically collect accepted results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E2356E-7FD6-43CF-8FFD-9D7BDE1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3F9E6F7-1382-4511-B7F8-0C77EBA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pages from CKAN, Socrata, data.json/DCAT and websites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BED9C53-C9BE-4007-B306-30B40638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E0DBDEE-E08D-417F-BA33-9D10C549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26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dataset pages and validate download/API links</a:t>
            </a:r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B0B0B76-2ECB-4056-A106-C4887D1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F18DFAE-7665-4EE3-BB6A-15827AEA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 only datasets that pass every validation gate</a:t>
            </a:r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065FDC-93B5-4C57-988A-7C2C6C5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9921240" cy="65836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948A99A-B0F0-4A0B-BDBC-182A670E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75504"/>
            <a:ext cx="9326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Status: under active development; current catalogue contains seeded official sources but does not yet guarantee source officiality for every collected dataset.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3711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7F900F-0A2B-4410-9D19-5BF9F19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QUALITY GATES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0D0393-B0F8-4478-B1F9-D7F66D3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21DE5C-D0F6-4FB5-AE51-12F9F6B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Validation and bounded execution</a:t>
            </a:r>
            <a:endParaRPr sz="36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d591ded674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CF7E14-7CC7-4F51-B762-EA61F51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CD3083E-93BE-47FA-9A1D-49032B8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5B60100-2E57-461D-ADE0-07B464B1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Georgia"/>
                <a:ea typeface="Georgia"/>
                <a:cs typeface="Georgia"/>
              </a:rPr>
              <a:t>A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6A37287-B478-4221-9FA7-DA8F13D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classification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43D62D-211F-42B1-BF02-DB77719E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page classifier checks whether a discovered page is an individual health-relevant dataset record.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0F86C7B-EE91-47FA-9F49-8A6D4C0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DA15BA5-3E84-442E-9A47-68D4E4EE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Georgia"/>
                <a:ea typeface="Georgia"/>
                <a:cs typeface="Georgia"/>
              </a:rPr>
              <a:t>B</a:t>
            </a:r>
            <a:endParaRPr sz="2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ABD7E2-B889-46A9-BA3C-3E66DAB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validation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60B4F3C-01FB-4868-8EB5-0B03146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 requests and bounded partial GETs verify link availability and avoid retaining HTML as data files.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5B47C3B-5220-46E6-8A69-7595F48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83F9D9E-631A-462B-BF94-9D75DA33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Georgia"/>
                <a:ea typeface="Georgia"/>
                <a:cs typeface="Georgia"/>
              </a:rPr>
              <a:t>C</a:t>
            </a:r>
            <a:endParaRPr sz="2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E4CEE8B-365F-47CF-BA93-6F35228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Network safety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E20F404-9C58-4F2F-B640-33256CD4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HTTP guards reject private/local destinations and re-check redirect targets.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E4654F9-32E1-4306-A877-F8CEBED3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5C6670"/>
                </a:solidFill>
                <a:latin typeface="Aptos"/>
                <a:ea typeface="Aptos"/>
                <a:cs typeface="Aptos"/>
              </a:rPr>
              <a:t>Design principle: fail visibly rather than silently accepting uncertain or malformed results.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2293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649742-D851-485B-AE96-9B575BC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 &amp; FUTURE WORK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939CEE-92B4-4699-B1A5-D152DCF8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8B1240-85C4-43F0-8C78-60338D67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What remains to be improved</a:t>
            </a:r>
            <a:endParaRPr sz="3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75278138144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8D423F3-8E24-4901-B771-47CBF59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E913548-5177-4195-A94E-06D743F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E31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862602-C321-4CD3-8B01-0D803CAC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AE3156"/>
                </a:solidFill>
                <a:latin typeface="Aptos"/>
                <a:ea typeface="Aptos"/>
                <a:cs typeface="Aptos"/>
              </a:rPr>
              <a:t>Current limitations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F75FFC-7E4F-4034-BD2E-1A50C3AF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8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Source authority and licensing policies are not fully enforced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One repository provider and one RCP voter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Deduplication relies on the normalized dataset URL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Background jobs are process-local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No authentication, monitoring or human review workflow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172875B-A0D0-4F97-8175-B1D7827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975A87C-D3A6-400F-89FA-5BF8B57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Next steps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FCD9A06-CE56-48B9-A3E6-8C84E35A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Evaluate additional repository providers and independent models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Strengthen official-source and licensing checks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Add a durable worker queue and retry policy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 deduplication by DOI, title and version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Harden production deployment and add a review interface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87677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C0DB5F-D1C2-4BA8-B4AB-AD8FB6B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4350"/>
            <a:ext cx="3108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Aptos"/>
                <a:ea typeface="Aptos"/>
                <a:cs typeface="Aptos"/>
              </a:rPr>
              <a:t>Key takeaway</a:t>
            </a:r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83BBDC-54C9-4CBC-9168-7C7333F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90625"/>
            <a:ext cx="10001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catalogue turns scattered dataset pages into searchable metadata.</a:t>
            </a:r>
            <a:endParaRPr sz="4000"/>
          </a:p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saved record passes automated classification and link validation.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C3DA0E-7CB1-4026-86AB-7933430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3A2477-36FB-4CA1-99A0-1EC045EB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 frontend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B40C14-E3F6-47B0-9A46-F868AB4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ED5292-FF7B-48C4-9411-8A7BF9C7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FastAPI + collector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9361EE-2162-4329-A34D-61AC81C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D54D"/>
          </a:solidFill>
          <a:ln xmlns:a="http://schemas.openxmlformats.org/drawingml/2006/main" w="12700">
            <a:solidFill>
              <a:srgbClr val="F6D5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1BA6F3-9660-43C1-9505-73EB40B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 catalog</a:t>
            </a:r>
            <a:endParaRPr sz="1600"/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b52b3e7fd4b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C1668E-6DC9-46BA-9DF5-7FF23C23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94004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2026-09-07T07:17:08.8300000Z</dcterms:created>
  <dcterms:modified xsi:type="dcterms:W3CDTF">2026-09-07T07:17:08.8300000Z</dcterms:modified>
</coreProperties>
</file>