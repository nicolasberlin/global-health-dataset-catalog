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1a7e27c6e427b" /><Relationship Type="http://schemas.openxmlformats.org/officeDocument/2006/relationships/extended-properties" Target="/docProps/app.xml" Id="Rb5d23caa108049ae" /><Relationship Type="http://schemas.openxmlformats.org/officeDocument/2006/relationships/officeDocument" Target="/ppt/presentation.xml" Id="Rb40df5f623c24f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4eb14e3734e19"/>
  </p:sldMasterIdLst>
  <p:notesMasterIdLst>
    <p:notesMasterId xmlns:r="http://schemas.openxmlformats.org/officeDocument/2006/relationships" r:id="R43d85afbe6a94aae"/>
  </p:notesMasterIdLst>
  <p:sldIdLst>
    <p:sldId xmlns:r="http://schemas.openxmlformats.org/officeDocument/2006/relationships" id="256" r:id="Ra872a5e7c96c48fe"/>
    <p:sldId xmlns:r="http://schemas.openxmlformats.org/officeDocument/2006/relationships" id="257" r:id="Rfa0fb57ea7ee4efe"/>
    <p:sldId xmlns:r="http://schemas.openxmlformats.org/officeDocument/2006/relationships" id="258" r:id="R165aa025a3394432"/>
    <p:sldId xmlns:r="http://schemas.openxmlformats.org/officeDocument/2006/relationships" id="259" r:id="Rcd486d8eab8a44a0"/>
    <p:sldId xmlns:r="http://schemas.openxmlformats.org/officeDocument/2006/relationships" id="260" r:id="R4b77d0d6a5dd46aa"/>
    <p:sldId xmlns:r="http://schemas.openxmlformats.org/officeDocument/2006/relationships" id="261" r:id="Rb7397259470f45dc"/>
    <p:sldId xmlns:r="http://schemas.openxmlformats.org/officeDocument/2006/relationships" id="262" r:id="Ra2319033da9c4011"/>
    <p:sldId xmlns:r="http://schemas.openxmlformats.org/officeDocument/2006/relationships" id="263" r:id="R2ca407923e5a4c69"/>
    <p:sldId xmlns:r="http://schemas.openxmlformats.org/officeDocument/2006/relationships" id="264" r:id="R3bc043463f95459e"/>
    <p:sldId xmlns:r="http://schemas.openxmlformats.org/officeDocument/2006/relationships" id="265" r:id="R125fadfd01c14ba8"/>
    <p:sldId xmlns:r="http://schemas.openxmlformats.org/officeDocument/2006/relationships" id="266" r:id="R520bc53581d743cd"/>
    <p:sldId xmlns:r="http://schemas.openxmlformats.org/officeDocument/2006/relationships" id="267" r:id="R41d22b1c475f4a01"/>
    <p:sldId xmlns:r="http://schemas.openxmlformats.org/officeDocument/2006/relationships" id="268" r:id="R04bb12b210a54d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98dfd28c0c4548" /><Relationship Type="http://schemas.openxmlformats.org/officeDocument/2006/relationships/slideMaster" Target="/ppt/slideMasters/slideMaster1.xml" Id="R9544eb14e3734e19" /><Relationship Type="http://schemas.openxmlformats.org/officeDocument/2006/relationships/notesMaster" Target="/ppt/notesMasters/notesMaster1.xml" Id="R43d85afbe6a94aae" /><Relationship Type="http://schemas.openxmlformats.org/officeDocument/2006/relationships/presProps" Target="/ppt/presProps.xml" Id="Re04b6464e51243eb" /><Relationship Type="http://schemas.openxmlformats.org/officeDocument/2006/relationships/viewProps" Target="/ppt/viewProps.xml" Id="R8cea872c90764798" /><Relationship Type="http://schemas.openxmlformats.org/officeDocument/2006/relationships/tableStyles" Target="/ppt/tableStyles.xml" Id="R207a89c61745437b" /><Relationship Type="http://schemas.openxmlformats.org/officeDocument/2006/relationships/slide" Target="/ppt/slides/slide1.xml" Id="Ra872a5e7c96c48fe" /><Relationship Type="http://schemas.openxmlformats.org/officeDocument/2006/relationships/slide" Target="/ppt/slides/slide2.xml" Id="Rfa0fb57ea7ee4efe" /><Relationship Type="http://schemas.openxmlformats.org/officeDocument/2006/relationships/slide" Target="/ppt/slides/slide3.xml" Id="R165aa025a3394432" /><Relationship Type="http://schemas.openxmlformats.org/officeDocument/2006/relationships/slide" Target="/ppt/slides/slide4.xml" Id="Rcd486d8eab8a44a0" /><Relationship Type="http://schemas.openxmlformats.org/officeDocument/2006/relationships/slide" Target="/ppt/slides/slide5.xml" Id="R4b77d0d6a5dd46aa" /><Relationship Type="http://schemas.openxmlformats.org/officeDocument/2006/relationships/slide" Target="/ppt/slides/slide6.xml" Id="Rb7397259470f45dc" /><Relationship Type="http://schemas.openxmlformats.org/officeDocument/2006/relationships/slide" Target="/ppt/slides/slide7.xml" Id="Ra2319033da9c4011" /><Relationship Type="http://schemas.openxmlformats.org/officeDocument/2006/relationships/slide" Target="/ppt/slides/slide8.xml" Id="R2ca407923e5a4c69" /><Relationship Type="http://schemas.openxmlformats.org/officeDocument/2006/relationships/slide" Target="/ppt/slides/slide9.xml" Id="R3bc043463f95459e" /><Relationship Type="http://schemas.openxmlformats.org/officeDocument/2006/relationships/slide" Target="/ppt/slides/slide10.xml" Id="R125fadfd01c14ba8" /><Relationship Type="http://schemas.openxmlformats.org/officeDocument/2006/relationships/slide" Target="/ppt/slides/slide11.xml" Id="R520bc53581d743cd" /><Relationship Type="http://schemas.openxmlformats.org/officeDocument/2006/relationships/slide" Target="/ppt/slides/slide12.xml" Id="R41d22b1c475f4a01" /><Relationship Type="http://schemas.openxmlformats.org/officeDocument/2006/relationships/slide" Target="/ppt/slides/slide13.xml" Id="R04bb12b210a54d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5ac102722b4f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bfaed8a764d6d" /><Relationship Type="http://schemas.openxmlformats.org/officeDocument/2006/relationships/notesMaster" Target="/ppt/notesMasters/notesMaster1.xml" Id="R28a4b8ebedbe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935b6a9d346d8" /><Relationship Type="http://schemas.openxmlformats.org/officeDocument/2006/relationships/notesMaster" Target="/ppt/notesMasters/notesMaster1.xml" Id="R82c3f9d4275540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63e9c6cc954066" /><Relationship Type="http://schemas.openxmlformats.org/officeDocument/2006/relationships/notesMaster" Target="/ppt/notesMasters/notesMaster1.xml" Id="R683f4f31b32c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94cbe1462a4534" /><Relationship Type="http://schemas.openxmlformats.org/officeDocument/2006/relationships/notesMaster" Target="/ppt/notesMasters/notesMaster1.xml" Id="Red7950adaed0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d5acbfc804e81" /><Relationship Type="http://schemas.openxmlformats.org/officeDocument/2006/relationships/notesMaster" Target="/ppt/notesMasters/notesMaster1.xml" Id="R0e60353fa1d4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61d7e9c7e24312" /><Relationship Type="http://schemas.openxmlformats.org/officeDocument/2006/relationships/notesMaster" Target="/ppt/notesMasters/notesMaster1.xml" Id="R09a13bcec54a46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9e5346a884835" /><Relationship Type="http://schemas.openxmlformats.org/officeDocument/2006/relationships/notesMaster" Target="/ppt/notesMasters/notesMaster1.xml" Id="Rdb1661f7670d46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3c0b498494636" /><Relationship Type="http://schemas.openxmlformats.org/officeDocument/2006/relationships/notesMaster" Target="/ppt/notesMasters/notesMaster1.xml" Id="R8095d99f7745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9c6f70989f4122" /><Relationship Type="http://schemas.openxmlformats.org/officeDocument/2006/relationships/notesMaster" Target="/ppt/notesMasters/notesMaster1.xml" Id="R5aca845c852e45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9fe3253d543a5" /><Relationship Type="http://schemas.openxmlformats.org/officeDocument/2006/relationships/notesMaster" Target="/ppt/notesMasters/notesMaster1.xml" Id="R3ed1936c5ac146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73949b07ab4c22" /><Relationship Type="http://schemas.openxmlformats.org/officeDocument/2006/relationships/notesMaster" Target="/ppt/notesMasters/notesMaster1.xml" Id="Rff8e614922c5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c45a2a1d0f410f" /><Relationship Type="http://schemas.openxmlformats.org/officeDocument/2006/relationships/notesMaster" Target="/ppt/notesMasters/notesMaster1.xml" Id="Rc1f279733fdd46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4513163c83466d" /><Relationship Type="http://schemas.openxmlformats.org/officeDocument/2006/relationships/notesMaster" Target="/ppt/notesMasters/notesMaster1.xml" Id="Re3523f3bde6144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web application and data-engineering MVP, not as a scientific dataset analysis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a software project focused on search, collection, validation and cataloguing.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over-claiming: the issue is not a new medical discovery, it is a discovery and cataloguing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concise problem statement to say aloud. It is deliberately focused on users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objective as an application objective, not a research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main components and emphasize separation of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two-stage logic: search produces candidates; automatic collection validates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manual source collection and automatic candidate collection share the same downstream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API contract can also be inspected through Swagger during local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what currently exists. Keep wording careful around source officiality.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the project is not just a simple CRUD app; it contains validation gates and safety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future work as natural engineering hardening rather than failure of the current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by repeating the core pipeline and software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4975c66c448f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640aad14c4dce" /><Relationship Type="http://schemas.openxmlformats.org/officeDocument/2006/relationships/slideLayout" Target="/ppt/slideLayouts/slideLayout1.xml" Id="R37d033ce201846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033ce201846d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1ba8ad82429f" /><Relationship Type="http://schemas.openxmlformats.org/officeDocument/2006/relationships/image" Target="/ppt/media/image.png" Id="R77225edbcd51455d" /><Relationship Type="http://schemas.openxmlformats.org/officeDocument/2006/relationships/image" Target="/ppt/media/image2.png" Id="R9f55636a2978407a" /><Relationship Type="http://schemas.openxmlformats.org/officeDocument/2006/relationships/notesSlide" Target="/ppt/notesSlides/notesSlide1.xml" Id="R48c98174a286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7afd698e4ab8" /><Relationship Type="http://schemas.openxmlformats.org/officeDocument/2006/relationships/image" Target="/ppt/media/image3.png" Id="Rac8e504168ef494a" /><Relationship Type="http://schemas.openxmlformats.org/officeDocument/2006/relationships/notesSlide" Target="/ppt/notesSlides/notesSlide2.xml" Id="Rbcc2cec116d4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cc64a5594bbe" /><Relationship Type="http://schemas.openxmlformats.org/officeDocument/2006/relationships/image" Target="/ppt/media/image3.png" Id="R91b4f771af284fe6" /><Relationship Type="http://schemas.openxmlformats.org/officeDocument/2006/relationships/notesSlide" Target="/ppt/notesSlides/notesSlide3.xml" Id="Rc13fbf712d0f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e9bd295ea432e" /><Relationship Type="http://schemas.openxmlformats.org/officeDocument/2006/relationships/image" Target="/ppt/media/image2.png" Id="R121c5c6889f34271" /><Relationship Type="http://schemas.openxmlformats.org/officeDocument/2006/relationships/notesSlide" Target="/ppt/notesSlides/notesSlide4.xml" Id="R9d63031cf4a14c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8f695230543f9" /><Relationship Type="http://schemas.openxmlformats.org/officeDocument/2006/relationships/image" Target="/ppt/media/image3.png" Id="R6c1fbc586df34ba1" /><Relationship Type="http://schemas.openxmlformats.org/officeDocument/2006/relationships/notesSlide" Target="/ppt/notesSlides/notesSlide5.xml" Id="R4c594dc3092c4d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71cdaea414676" /><Relationship Type="http://schemas.openxmlformats.org/officeDocument/2006/relationships/image" Target="/ppt/media/image3.png" Id="Rb9c3195d160f4cb3" /><Relationship Type="http://schemas.openxmlformats.org/officeDocument/2006/relationships/notesSlide" Target="/ppt/notesSlides/notesSlide6.xml" Id="Rc55d931bb059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4686dd11c4e0e" /><Relationship Type="http://schemas.openxmlformats.org/officeDocument/2006/relationships/image" Target="/ppt/media/image3.png" Id="Re23c354da35b405c" /><Relationship Type="http://schemas.openxmlformats.org/officeDocument/2006/relationships/notesSlide" Target="/ppt/notesSlides/notesSlide7.xml" Id="R5c6a9d51d38448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995ad0a884271" /><Relationship Type="http://schemas.openxmlformats.org/officeDocument/2006/relationships/image" Target="/ppt/media/image3.png" Id="R1fc1b399c1904fb7" /><Relationship Type="http://schemas.openxmlformats.org/officeDocument/2006/relationships/notesSlide" Target="/ppt/notesSlides/notesSlide8.xml" Id="R51129d73859d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e56a7d6894c6a" /><Relationship Type="http://schemas.openxmlformats.org/officeDocument/2006/relationships/image" Target="/ppt/media/image3.png" Id="R716cc6f1c0fe4f98" /><Relationship Type="http://schemas.openxmlformats.org/officeDocument/2006/relationships/notesSlide" Target="/ppt/notesSlides/notesSlide9.xml" Id="Rf5bdbcf2302e42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9d14614b4f67" /><Relationship Type="http://schemas.openxmlformats.org/officeDocument/2006/relationships/image" Target="/ppt/media/image3.png" Id="R64c387c19c06401c" /><Relationship Type="http://schemas.openxmlformats.org/officeDocument/2006/relationships/notesSlide" Target="/ppt/notesSlides/notesSlide10.xml" Id="R2e60ea53bda446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2f916e7ef467c" /><Relationship Type="http://schemas.openxmlformats.org/officeDocument/2006/relationships/image" Target="/ppt/media/image3.png" Id="R05baa7cc80b74325" /><Relationship Type="http://schemas.openxmlformats.org/officeDocument/2006/relationships/notesSlide" Target="/ppt/notesSlides/notesSlide11.xml" Id="Rf8811518aca249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360af98844075" /><Relationship Type="http://schemas.openxmlformats.org/officeDocument/2006/relationships/image" Target="/ppt/media/image3.png" Id="Ra75df867a8134d58" /><Relationship Type="http://schemas.openxmlformats.org/officeDocument/2006/relationships/notesSlide" Target="/ppt/notesSlides/notesSlide12.xml" Id="Rd6beae2585344d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e90b9b1944c2" /><Relationship Type="http://schemas.openxmlformats.org/officeDocument/2006/relationships/image" Target="/ppt/media/image2.png" Id="R7560e0a4201942af" /><Relationship Type="http://schemas.openxmlformats.org/officeDocument/2006/relationships/notesSlide" Target="/ppt/notesSlides/notesSlide13.xml" Id="R92bddd8cfa924f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ACE58E-FA87-4BD6-9ACE-F60BFF4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DBDD1B-2D6C-4845-870F-0014A07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STUDENT PRESENTATION</a:t>
            </a:r>
            <a:endParaRPr sz="13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42D8F3-7AB2-428F-B97E-63C1BE6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14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EPFL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FFB32A-D327-433F-B223-F6760F0D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78992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Global Health</a:t>
            </a:r>
            <a:endParaRPr sz="450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Dataset Catalog</a:t>
            </a:r>
            <a:endParaRPr sz="45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8C254F-70EF-49AB-944D-D8D1D7C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Web application for dataset discovery, validation and cataloguing</a:t>
            </a:r>
            <a:endParaRPr sz="175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8E764F6-6CAC-463A-AB15-51AE3F7C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66344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25edbcd51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653" y="1627632"/>
            <a:ext cx="4056670" cy="224028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B02A479-9DB0-4950-8B64-CA38FB6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Nicolas Berlin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47B4D0A-07B3-40C5-8968-2A52BAD9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Supervised by: David Sasu, Aurélien Macé</a:t>
            </a:r>
            <a:endParaRPr sz="125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September 2026</a:t>
            </a:r>
            <a:endParaRPr sz="125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5636a2978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32993BE-F959-4F73-A96A-34FB4A7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85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213593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1DC562-1106-44F3-A5D9-A3FFC63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OVERVIEW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CCBE55-2656-4743-A579-15F27EC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71EC4C-36FD-47BA-969A-EEB9D7D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Presentation outline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e504168ef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B6A749-A983-4DF2-922F-28BE9ED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8CD913-EA64-4D1A-A1B3-C9C9100C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C6868C-FB71-4AC7-82AF-1B28678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28800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3A8D119-DD53-41B3-879F-0CF8455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938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121A0E-1EB9-4AAE-9465-6BA2C4C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96896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8ACA6B9-752B-4620-9386-8363117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87168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006A331-0549-44A6-8AE6-B8215D5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59689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F7254C-AB33-4427-99AC-ED91D76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55264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9D2523C-BE53-43B8-AF7D-33EA441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56A3DEF-AC4B-4163-A00F-8C09600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55264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System architecture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BEDB5FF-1233-44F0-A993-485B8C0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04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6F87FCF-D7AC-4285-83D1-ECCE02F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03904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CB2368A-FC66-4F72-A42D-78AFEE0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1363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Workflows &amp; implementation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0A0F408-3974-4474-8748-E06D0D7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05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D6B752F-4BFA-407D-AF0F-CC1E97E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62272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572A7A-A744-45BB-A2E1-D45AEDB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572000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Current status &amp; future work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E4B4E30-223C-49F9-B334-AAAC5C39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4114800" cy="265176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AE3AB93-C81D-42E1-9081-61F0FAD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12848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Project focus</a:t>
            </a:r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9729672-79F8-4666-B09F-F0BEACD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3246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A metadata-first catalogue that helps users find dataset pages and inspect validated access links.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311391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AC1B89-00C8-4B1A-B593-CD46133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EEE4AA-EC82-4C19-88DF-63C2A967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681EBD-FDD6-4BE0-B761-D5A26D2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Why this application is needed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4f771af284f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90ABFD-42F2-4A24-A1E5-0EF09229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43B343E-0A6F-4275-BA83-76214A5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42CFD9-92DD-4823-B457-D029E7A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807FDB6-98EB-4AD9-B7A8-8B61F71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Heterogeneous sources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F515ED1-A8A9-449E-8F4A-61A2556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Dataset pages are spread across repository metadata, open-data portals, APIs and regular websites.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9A7435E-74A1-43D9-A4B0-F240BA7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D181CAB-DB82-403E-BFA8-77569C2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3EA30BE-F13C-4093-BD74-003AA02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Manual checks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B20D2AE-BAB8-43B2-A430-C425CF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Users still need to verify relevance, dataset-page identity, download links and API availability.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400203E-2011-4F45-8598-2B5C7CC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0054EE6-B1BF-438E-8F4F-085B202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FD12D96-04B8-4621-B454-651AD30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No unified workflow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B6DD712-5C19-4FAB-A4C5-FE3E6C8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Search, classification, validation and persistence are often handled as separate steps.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F2BDC78-B9F1-4F09-A7AF-D28B16F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469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5C6670"/>
                </a:solidFill>
                <a:latin typeface="DM Serif Text"/>
                <a:ea typeface="DM Serif Text"/>
                <a:cs typeface="DM Serif Text"/>
              </a:rPr>
              <a:t>The project addresses the workflow around dataset metadata. It does not perform scientific analysis of the datasets.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91638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E2A9C-4095-4A72-BF05-78C76DB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6C00EA3-1D86-4F58-B3F0-F95F6E8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FE7">
              <a:alpha val="90000"/>
            </a:srgbClr>
          </a:solidFill>
          <a:ln xmlns:a="http://schemas.openxmlformats.org/drawingml/2006/main" w="12700">
            <a:solidFill>
              <a:srgbClr val="68AFE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3F0510-7ED6-40AD-BFC5-83341D8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STATEMENT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BB0BCA-265A-4069-80BD-A7CBBFF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16152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Technical users need one workflow to discover, classify, validate and catalogue global health dataset pages.</a:t>
            </a:r>
            <a:endParaRPr sz="4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F0F24F-E416-4F42-9828-03D3F32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A DATA ENGINEERING / SOFTWARE ENGINEERING PERSPECTIVE</a:t>
            </a:r>
            <a:endParaRPr sz="1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c5c6889f3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05DDCC2-DB1B-4D76-8E41-97EA329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D26D57D-C15C-4B86-B1C9-089B044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96012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2AA0FE-E5DE-4112-89FA-EDA89C4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04104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C43A0"/>
                </a:solidFill>
                <a:latin typeface="Aptos"/>
                <a:ea typeface="Aptos"/>
                <a:cs typeface="Aptos"/>
              </a:rPr>
              <a:t>Scope: the application stores metadata and access links; it does not download or retain full dataset files.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84873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CD54B3-E689-4EFA-BC0D-AAC02AB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D7E388-8412-45E8-AAF7-4F5D2EE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A31EAE-5C20-4872-A80D-693BE88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 and scope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fbc586df34b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A791BF-1281-4A32-87C7-5863E82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5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C5762D-35D4-42E4-A566-C2D416F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4200"/>
            <a:ext cx="10149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How can one application discover and catalogue global health datasets across heterogeneous sources?</a:t>
            </a:r>
            <a:endParaRPr sz="32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86F1C8-D3E4-413F-A5B6-210795E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C99E57-1171-42F6-8DA8-43FEEAF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4B3B10-817E-497C-96E1-A4C1119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&amp; discover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E6E949D-DBBA-45E3-AFB5-5F7A94C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local PostgreSQL first and fall back to external repository metadata when needed.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B6B77BA-A86A-4CBD-9C75-3EFFECC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67DD4BB-D854-47EC-8E79-5438C38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23DADDF-902C-4770-8810-7BDC8AF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Classify &amp; validate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21F4CC9-200B-478F-850F-4D00404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 EPFL RCP to classify candidates and validate candidate download/API links.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D829B5B-17D2-4E64-8C52-24DD729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2C6BD2-FAB8-4325-A304-CE8099D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23B289-B116-401C-B93F-899179A4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Catalogue &amp; inspect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82AE728-9351-40A6-9242-15B8F76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Persist datasets that pass page classification and distribution validation.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1141823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80640C-E1F1-4A02-A6E4-B1BF388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SYSTEM ARCHITECTURE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1946CE-76C7-4128-B0F2-C064DE6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0A3DB3-4661-4097-9DB2-72773F2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55460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React, FastAPI, services and PostgreSQL</a:t>
            </a:r>
            <a:endParaRPr sz="3600"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3195d160f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79ACCF-6D5B-4985-9DD5-4D4651D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ptos"/>
                <a:ea typeface="Aptos"/>
                <a:cs typeface="Aptos"/>
              </a:rPr>
              <a:t>6</a:t>
            </a:r>
            <a:endParaRPr sz="850"/>
          </a:p>
        </p:txBody>
      </p:sp>
      <p:sp>
        <p:nvSpPr>
          <p:cNvPr id="30" name="architecture-frontend">
            <a:extLst xmlns:a="http://schemas.openxmlformats.org/drawingml/2006/main">
              <a:ext uri="{FF2B5EF4-FFF2-40B4-BE49-F238E27FC236}">
                <a16:creationId xmlns:a16="http://schemas.microsoft.com/office/drawing/2014/main" id="{B49CFABC-F52E-4116-B158-9CF6E36B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architecture-backend">
            <a:extLst xmlns:a="http://schemas.openxmlformats.org/drawingml/2006/main">
              <a:ext uri="{FF2B5EF4-FFF2-40B4-BE49-F238E27FC236}">
                <a16:creationId xmlns:a16="http://schemas.microsoft.com/office/drawing/2014/main" id="{76E83B16-6AF3-4562-8793-65BBD4A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2" name="architecture-search">
            <a:extLst xmlns:a="http://schemas.openxmlformats.org/drawingml/2006/main">
              <a:ext uri="{FF2B5EF4-FFF2-40B4-BE49-F238E27FC236}">
                <a16:creationId xmlns:a16="http://schemas.microsoft.com/office/drawing/2014/main" id="{F02A7470-6327-49A8-B01E-8157509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333625" cy="8763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Repository search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 + RCP relevance</a:t>
            </a:r>
          </a:p>
        </p:txBody>
      </p:sp>
      <p:sp>
        <p:nvSpPr>
          <p:cNvPr id="33" name="architecture-collector">
            <a:extLst xmlns:a="http://schemas.openxmlformats.org/drawingml/2006/main">
              <a:ext uri="{FF2B5EF4-FFF2-40B4-BE49-F238E27FC236}">
                <a16:creationId xmlns:a16="http://schemas.microsoft.com/office/drawing/2014/main" id="{FA1B718C-11AE-4C3A-B6B6-B8A9CBA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333625" cy="10001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Collector pipeline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 + page RCP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link validation</a:t>
            </a:r>
          </a:p>
        </p:txBody>
      </p:sp>
      <p:sp>
        <p:nvSpPr>
          <p:cNvPr id="34" name="architecture-database">
            <a:extLst xmlns:a="http://schemas.openxmlformats.org/drawingml/2006/main">
              <a:ext uri="{FF2B5EF4-FFF2-40B4-BE49-F238E27FC236}">
                <a16:creationId xmlns:a16="http://schemas.microsoft.com/office/drawing/2014/main" id="{7F56AFE9-6BA2-4D7B-AB49-1597FE9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381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sources, jobs and catalogue</a:t>
            </a:r>
          </a:p>
        </p:txBody>
      </p:sp>
      <p:cxnSp>
        <p:nvCxnSpPr>
          <p:cNvPr id="5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23837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381500" y="2390775"/>
            <a:ext cx="7143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381500" y="3105150"/>
            <a:ext cx="714375" cy="871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32" idx="3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429500" y="2390775"/>
            <a:ext cx="2333625" cy="2762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33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7429500" y="3619500"/>
            <a:ext cx="2333625" cy="35718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0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7D494A7C-F9AA-4C11-82AD-9C8A4FE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FastAPI orchestrates search and collection. PostgreSQL supports local lookup, job state and validated persistence.</a:t>
            </a:r>
          </a:p>
        </p:txBody>
      </p:sp>
    </p:spTree>
    <p:extLst>
      <p:ext uri="{BB962C8B-B14F-4D97-AF65-F5344CB8AC3E}">
        <p14:creationId xmlns:p14="http://schemas.microsoft.com/office/powerpoint/2010/main" val="2054406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C05FAC-FF09-4C6C-BE14-8BE16A1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1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FF04D2-3841-4DF3-B19B-005D48C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262252-A5AD-40F3-9EEE-5648C09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70788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Repository search and automatic collection</a:t>
            </a:r>
            <a:endParaRPr sz="3600"/>
          </a:p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c354da35b40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5E19B70-FF34-46A5-81F7-5DDB894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7</a:t>
            </a:r>
            <a:endParaRPr sz="1000"/>
          </a:p>
        </p:txBody>
      </p:sp>
      <p:sp>
        <p:nvSpPr>
          <p:cNvPr id="27" name="search-query">
            <a:extLst xmlns:a="http://schemas.openxmlformats.org/drawingml/2006/main">
              <a:ext uri="{FF2B5EF4-FFF2-40B4-BE49-F238E27FC236}">
                <a16:creationId xmlns:a16="http://schemas.microsoft.com/office/drawing/2014/main" id="{9E4FE1A6-C9E6-465A-85DB-702D280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285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28" name="search-local">
            <a:extLst xmlns:a="http://schemas.openxmlformats.org/drawingml/2006/main">
              <a:ext uri="{FF2B5EF4-FFF2-40B4-BE49-F238E27FC236}">
                <a16:creationId xmlns:a16="http://schemas.microsoft.com/office/drawing/2014/main" id="{33ADB97F-B3E4-4F26-8432-A9CD03E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428750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9" name="search-datacite">
            <a:extLst xmlns:a="http://schemas.openxmlformats.org/drawingml/2006/main">
              <a:ext uri="{FF2B5EF4-FFF2-40B4-BE49-F238E27FC236}">
                <a16:creationId xmlns:a16="http://schemas.microsoft.com/office/drawing/2014/main" id="{4C2F864A-A524-462A-A927-7AB6AEA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0" name="search-relevance">
            <a:extLst xmlns:a="http://schemas.openxmlformats.org/drawingml/2006/main">
              <a:ext uri="{FF2B5EF4-FFF2-40B4-BE49-F238E27FC236}">
                <a16:creationId xmlns:a16="http://schemas.microsoft.com/office/drawing/2014/main" id="{595BC6B2-68B2-4B2B-A400-A240E19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5716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relevance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1" name="search-job">
            <a:extLst xmlns:a="http://schemas.openxmlformats.org/drawingml/2006/main">
              <a:ext uri="{FF2B5EF4-FFF2-40B4-BE49-F238E27FC236}">
                <a16:creationId xmlns:a16="http://schemas.microsoft.com/office/drawing/2014/main" id="{74C96B32-3022-4115-9492-C540165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66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Reserve or reuse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collection job</a:t>
            </a:r>
          </a:p>
        </p:txBody>
      </p:sp>
      <p:sp>
        <p:nvSpPr>
          <p:cNvPr id="32" name="search-stored">
            <a:extLst xmlns:a="http://schemas.openxmlformats.org/drawingml/2006/main">
              <a:ext uri="{FF2B5EF4-FFF2-40B4-BE49-F238E27FC236}">
                <a16:creationId xmlns:a16="http://schemas.microsoft.com/office/drawing/2014/main" id="{A7A6D2C9-C0D1-408A-86E6-5C6C9C4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3" name="search-local-return">
            <a:extLst xmlns:a="http://schemas.openxmlformats.org/drawingml/2006/main">
              <a:ext uri="{FF2B5EF4-FFF2-40B4-BE49-F238E27FC236}">
                <a16:creationId xmlns:a16="http://schemas.microsoft.com/office/drawing/2014/main" id="{D976F6FE-62C0-4681-8E51-B419383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71875"/>
            <a:ext cx="1619250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match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Return immediately</a:t>
            </a:r>
          </a:p>
        </p:txBody>
      </p:sp>
      <p:sp>
        <p:nvSpPr>
          <p:cNvPr id="34" name="search-rejected">
            <a:extLst xmlns:a="http://schemas.openxmlformats.org/drawingml/2006/main">
              <a:ext uri="{FF2B5EF4-FFF2-40B4-BE49-F238E27FC236}">
                <a16:creationId xmlns:a16="http://schemas.microsoft.com/office/drawing/2014/main" id="{2D580F90-44B0-4617-9970-54DBCC9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762125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Rejected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collection</a:t>
            </a:r>
          </a:p>
        </p:txBody>
      </p:sp>
      <p:sp>
        <p:nvSpPr>
          <p:cNvPr id="35" name="search-validation">
            <a:extLst xmlns:a="http://schemas.openxmlformats.org/drawingml/2006/main">
              <a:ext uri="{FF2B5EF4-FFF2-40B4-BE49-F238E27FC236}">
                <a16:creationId xmlns:a16="http://schemas.microsoft.com/office/drawing/2014/main" id="{89689009-2EF8-48FF-B2C3-39A843A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1857375" cy="6477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RCP +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 validation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4500" y="2705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71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476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5723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8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0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786563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8929688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5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9858375" y="3076575"/>
            <a:ext cx="1214438" cy="819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4" name="search-no-local-label">
            <a:extLst xmlns:a="http://schemas.openxmlformats.org/drawingml/2006/main">
              <a:ext uri="{FF2B5EF4-FFF2-40B4-BE49-F238E27FC236}">
                <a16:creationId xmlns:a16="http://schemas.microsoft.com/office/drawing/2014/main" id="{D263656B-9C35-4B19-B7D9-7F6757F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No local match</a:t>
            </a:r>
          </a:p>
        </p:txBody>
      </p:sp>
      <p:sp>
        <p:nvSpPr>
          <p:cNvPr id="45" name="search-accepted-label">
            <a:extLst xmlns:a="http://schemas.openxmlformats.org/drawingml/2006/main">
              <a:ext uri="{FF2B5EF4-FFF2-40B4-BE49-F238E27FC236}">
                <a16:creationId xmlns:a16="http://schemas.microsoft.com/office/drawing/2014/main" id="{6EF36EEC-7640-42A6-98A3-90CEA5A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6" name="search-valid-label">
            <a:extLst xmlns:a="http://schemas.openxmlformats.org/drawingml/2006/main">
              <a:ext uri="{FF2B5EF4-FFF2-40B4-BE49-F238E27FC236}">
                <a16:creationId xmlns:a16="http://schemas.microsoft.com/office/drawing/2014/main" id="{FF1B218E-7EF0-420F-9004-46CAC32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Valid only</a:t>
            </a:r>
          </a:p>
        </p:txBody>
      </p:sp>
      <p:sp>
        <p:nvSpPr>
          <p:cNvPr id="47" name="search-rule">
            <a:extLst xmlns:a="http://schemas.openxmlformats.org/drawingml/2006/main">
              <a:ext uri="{FF2B5EF4-FFF2-40B4-BE49-F238E27FC236}">
                <a16:creationId xmlns:a16="http://schemas.microsoft.com/office/drawing/2014/main" id="{DEAA154D-294C-440D-9DA8-85C4F18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 includes relevant and somewhat relevant. External repository metadata is never copied directly into the catalogue.</a:t>
            </a:r>
          </a:p>
        </p:txBody>
      </p:sp>
    </p:spTree>
    <p:extLst>
      <p:ext uri="{BB962C8B-B14F-4D97-AF65-F5344CB8AC3E}">
        <p14:creationId xmlns:p14="http://schemas.microsoft.com/office/powerpoint/2010/main" val="1826650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73FA5-B9B0-47AC-B8BB-0C97591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2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3E5BEB-F8BD-4ED1-9115-5EF6FA68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C2E14-6638-4D80-BE21-41F3657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 collection pipeline</a:t>
            </a:r>
            <a:endParaRPr sz="3600"/>
          </a:p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1b399c190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EAD029-2E9A-4E3C-A4A0-2B7EFC0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8</a:t>
            </a:r>
            <a:endParaRPr sz="1000"/>
          </a:p>
        </p:txBody>
      </p:sp>
      <p:sp>
        <p:nvSpPr>
          <p:cNvPr id="32" name="collection-configured">
            <a:extLst xmlns:a="http://schemas.openxmlformats.org/drawingml/2006/main">
              <a:ext uri="{FF2B5EF4-FFF2-40B4-BE49-F238E27FC236}">
                <a16:creationId xmlns:a16="http://schemas.microsoft.com/office/drawing/2014/main" id="{8456AC4A-BFA7-45FC-8774-D85034C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Configured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3" name="collection-candidate">
            <a:extLst xmlns:a="http://schemas.openxmlformats.org/drawingml/2006/main">
              <a:ext uri="{FF2B5EF4-FFF2-40B4-BE49-F238E27FC236}">
                <a16:creationId xmlns:a16="http://schemas.microsoft.com/office/drawing/2014/main" id="{096A95CA-341C-4211-AA78-0CC9396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432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Accepted repository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4" name="collection-discovery">
            <a:extLst xmlns:a="http://schemas.openxmlformats.org/drawingml/2006/main">
              <a:ext uri="{FF2B5EF4-FFF2-40B4-BE49-F238E27FC236}">
                <a16:creationId xmlns:a16="http://schemas.microsoft.com/office/drawing/2014/main" id="{DF62D1D9-6BEB-4E2C-BA55-FF70681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source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through an adapter</a:t>
            </a:r>
          </a:p>
        </p:txBody>
      </p:sp>
      <p:sp>
        <p:nvSpPr>
          <p:cNvPr id="35" name="collection-landing">
            <a:extLst xmlns:a="http://schemas.openxmlformats.org/drawingml/2006/main">
              <a:ext uri="{FF2B5EF4-FFF2-40B4-BE49-F238E27FC236}">
                <a16:creationId xmlns:a16="http://schemas.microsoft.com/office/drawing/2014/main" id="{0AAA2426-4F3A-41B0-8B77-2BE53B5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 candidate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page only</a:t>
            </a:r>
          </a:p>
        </p:txBody>
      </p:sp>
      <p:sp>
        <p:nvSpPr>
          <p:cNvPr id="36" name="collection-extraction">
            <a:extLst xmlns:a="http://schemas.openxmlformats.org/drawingml/2006/main">
              <a:ext uri="{FF2B5EF4-FFF2-40B4-BE49-F238E27FC236}">
                <a16:creationId xmlns:a16="http://schemas.microsoft.com/office/drawing/2014/main" id="{C5334CFA-3EE4-4027-94D2-57C3F4E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71450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Metadata +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extraction</a:t>
            </a:r>
          </a:p>
        </p:txBody>
      </p:sp>
      <p:sp>
        <p:nvSpPr>
          <p:cNvPr id="37" name="collection-page-rcp">
            <a:extLst xmlns:a="http://schemas.openxmlformats.org/drawingml/2006/main">
              <a:ext uri="{FF2B5EF4-FFF2-40B4-BE49-F238E27FC236}">
                <a16:creationId xmlns:a16="http://schemas.microsoft.com/office/drawing/2014/main" id="{4D1D27E3-F7DE-4CF8-B975-FEC395A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page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38" name="collection-links">
            <a:extLst xmlns:a="http://schemas.openxmlformats.org/drawingml/2006/main">
              <a:ext uri="{FF2B5EF4-FFF2-40B4-BE49-F238E27FC236}">
                <a16:creationId xmlns:a16="http://schemas.microsoft.com/office/drawing/2014/main" id="{BD5A119B-8366-416E-BFCC-11097CB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Download / API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collection-database">
            <a:extLst xmlns:a="http://schemas.openxmlformats.org/drawingml/2006/main">
              <a:ext uri="{FF2B5EF4-FFF2-40B4-BE49-F238E27FC236}">
                <a16:creationId xmlns:a16="http://schemas.microsoft.com/office/drawing/2014/main" id="{998B992F-1955-4A5A-B9ED-41217FE4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1000125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cxnSp>
        <p:nvCxnSpPr>
          <p:cNvPr id="66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857375" y="2152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857375" y="3486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5750" y="2152650"/>
            <a:ext cx="666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095750" y="2867025"/>
            <a:ext cx="666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77000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429625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38225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7" name="collection-families-heading">
            <a:extLst xmlns:a="http://schemas.openxmlformats.org/drawingml/2006/main">
              <a:ext uri="{FF2B5EF4-FFF2-40B4-BE49-F238E27FC236}">
                <a16:creationId xmlns:a16="http://schemas.microsoft.com/office/drawing/2014/main" id="{C183284F-75A6-4F6B-9DBE-C736603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Discovery families for configured sources</a:t>
            </a:r>
          </a:p>
        </p:txBody>
      </p:sp>
      <p:sp>
        <p:nvSpPr>
          <p:cNvPr id="48" name="family-ckan">
            <a:extLst xmlns:a="http://schemas.openxmlformats.org/drawingml/2006/main">
              <a:ext uri="{FF2B5EF4-FFF2-40B4-BE49-F238E27FC236}">
                <a16:creationId xmlns:a16="http://schemas.microsoft.com/office/drawing/2014/main" id="{ED04B00A-11EF-48C7-9B08-3E91ECA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CKAN</a:t>
            </a:r>
          </a:p>
        </p:txBody>
      </p:sp>
      <p:sp>
        <p:nvSpPr>
          <p:cNvPr id="49" name="family-socrata">
            <a:extLst xmlns:a="http://schemas.openxmlformats.org/drawingml/2006/main">
              <a:ext uri="{FF2B5EF4-FFF2-40B4-BE49-F238E27FC236}">
                <a16:creationId xmlns:a16="http://schemas.microsoft.com/office/drawing/2014/main" id="{CAABA887-7EB7-4212-96E1-6C90579F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Socrata</a:t>
            </a:r>
          </a:p>
        </p:txBody>
      </p:sp>
      <p:sp>
        <p:nvSpPr>
          <p:cNvPr id="50" name="family-datajson">
            <a:extLst xmlns:a="http://schemas.openxmlformats.org/drawingml/2006/main">
              <a:ext uri="{FF2B5EF4-FFF2-40B4-BE49-F238E27FC236}">
                <a16:creationId xmlns:a16="http://schemas.microsoft.com/office/drawing/2014/main" id="{1E3A9A6A-8D5B-41A5-9D6F-7D49066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data.json / DCAT</a:t>
            </a:r>
          </a:p>
        </p:txBody>
      </p:sp>
      <p:sp>
        <p:nvSpPr>
          <p:cNvPr id="51" name="family-web">
            <a:extLst xmlns:a="http://schemas.openxmlformats.org/drawingml/2006/main">
              <a:ext uri="{FF2B5EF4-FFF2-40B4-BE49-F238E27FC236}">
                <a16:creationId xmlns:a16="http://schemas.microsoft.com/office/drawing/2014/main" id="{21AFD381-F253-4012-AD97-860E811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Generic websites</a:t>
            </a:r>
          </a:p>
        </p:txBody>
      </p:sp>
      <p:sp>
        <p:nvSpPr>
          <p:cNvPr id="52" name="collection-rule">
            <a:extLst xmlns:a="http://schemas.openxmlformats.org/drawingml/2006/main">
              <a:ext uri="{FF2B5EF4-FFF2-40B4-BE49-F238E27FC236}">
                <a16:creationId xmlns:a16="http://schemas.microsoft.com/office/drawing/2014/main" id="{5BF8105B-4102-4CEE-A7F8-5E8A716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The catalogue retains only datasets accepted by the page classifier and backed by at least one valid distribution.</a:t>
            </a:r>
          </a:p>
        </p:txBody>
      </p:sp>
    </p:spTree>
    <p:extLst>
      <p:ext uri="{BB962C8B-B14F-4D97-AF65-F5344CB8AC3E}">
        <p14:creationId xmlns:p14="http://schemas.microsoft.com/office/powerpoint/2010/main" val="53883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FA65A7-A3C2-45A9-8421-BDF0A175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IMPLEMENTATION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76FCAC3-CFD8-471B-BC0E-8A9C2B3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EC6D0A-44BF-4FD9-B413-DB00D51C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42836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 and API contracts</a:t>
            </a:r>
            <a:endParaRPr sz="36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cc6f1c0fe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794069-D015-4D71-B5C4-EDA056A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9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F7B88A-71F9-49DB-95D7-84FFF207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15C945-7DA3-44EF-BCBD-4ADBA9D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8712F4-219D-483F-B3D7-65AD04C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 interface, progressive status and result display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78044BC-0E51-44F8-BFBB-6FB4AD1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60D037-E1D4-465D-B2A6-FB6897C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BDA486-F4CC-4F1C-88E3-D257BAF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 validation, routes and job orchestration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3ECAFB8-E82F-4389-A9F2-04917E4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46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AAAFF6-C793-4518-B309-74170F8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F40EB5-32F9-418E-8832-3F314F2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Search, sources, jobs, datasets and distributions</a:t>
            </a:r>
            <a:endParaRPr sz="10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BB4CAC0-5638-45FF-A7AA-657F589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AA6D4AB-088D-46A8-A165-2169EC1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Python collector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9D1F078-FBBA-4D8E-A267-A2476F2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Discovery, extraction, classification and validation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E4F8172-36FA-4312-A75A-473ACFD9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C5FDDC1-09B6-4B2E-B633-489414E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EPFL RCP</a:t>
            </a: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6A99F88-CF33-4037-97C3-38B5DEA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LLM-based relevance and page classification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8730463-8D93-4186-8B21-3CDDE87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386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Main API entry points</a:t>
            </a:r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E3A07D6-19A4-4C02-8CA0-1BD3F6D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00625"/>
            <a:ext cx="1069848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9050" tIns="19050" rIns="19050" bIns="1905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and fallback   POST /collector/search-datasets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+ reserve   POST /collector/classify-repository-result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Track collection   GET /collector/collection-jobs/{id}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Inspect catalogue   GET /collector/collected-datasets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36661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EF1094-450A-435B-8B9D-DACD35B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CURRENT STATUS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DB7436-0C48-49B5-8604-63BD3DF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5AC3A3-FB33-4848-9E6D-540A606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Implemented capabilities in the MVP</a:t>
            </a:r>
            <a:endParaRPr sz="36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387c19c0640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6C7DD8-3F7E-474B-A274-6732631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A2B42AE-E164-43F4-8930-143A9E39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2F71A9-7088-4A64-BDC0-820D12C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previously collected datasets in PostgreSQL</a:t>
            </a:r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AD87789-2544-480B-AADC-A5A3884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CCAB71-DD64-41AC-9F71-85A3E1A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Fall back to DataCite when no local result is found</a:t>
            </a:r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BA90E-B739-4707-8165-FAF153C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2E8046-9B4D-4EED-A537-69E0A25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external candidates and automatically collect accepted results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6E8A9F-4FBD-4876-90DF-D05FCF8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96537BC-6DF7-4D24-B930-1C5B84B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pages from CKAN, Socrata, data.json/DCAT and websites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63F6814-6405-4CD8-91E7-08FE73F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67FCB5D-9B0C-4359-AB82-B2A4D0C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26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dataset pages and validate download/API links</a:t>
            </a:r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99A24CB-D8BF-4FF3-B8E8-5AC416F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FA7AEAF-CAF2-4EDA-88FE-00F2F4D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 only datasets that pass every validation gate</a:t>
            </a:r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85F358C-2351-4E2F-8D0C-069B132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9921240" cy="65836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5313DDF-88DA-49F3-A3FF-BFE5695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75504"/>
            <a:ext cx="9326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Status: under active development; current catalogue contains seeded official sources but does not yet guarantee source officiality for every collected dataset.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2947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A6901-8CFE-47CC-8BD2-94B8A9A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QUALITY GATES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95CF15-EC1F-43A9-8CFE-A3B6F0DD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8943D5-EFD7-45EB-B9E8-6DE59754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Validation and bounded execution</a:t>
            </a:r>
            <a:endParaRPr sz="36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aa7cc80b743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04FFD6-880E-45AC-AB0B-8ABEB60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46A2FA6-56A2-4B7E-B0B8-506E0C00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A7ADB4-6062-47A0-A182-DBBCCD5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Georgia"/>
                <a:ea typeface="Georgia"/>
                <a:cs typeface="Georgia"/>
              </a:rPr>
              <a:t>A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83D93F-CAC9-4980-AE80-FDA3660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classification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F94360-27E7-4538-A200-EE3ECF72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page classifier checks whether a discovered page is an individual health-relevant dataset record.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6B7608A-1407-4446-8927-369490C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29BD31-F67A-4F04-B513-30D50EB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Georgia"/>
                <a:ea typeface="Georgia"/>
                <a:cs typeface="Georgia"/>
              </a:rPr>
              <a:t>B</a:t>
            </a:r>
            <a:endParaRPr sz="2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BF58D8-8403-4914-ACEE-AF6B453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validation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AFB2A3-F996-48A8-92F5-9AC8011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 requests and bounded partial GETs verify link availability and avoid retaining HTML as data files.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653734B-295A-444E-BC13-0F2753A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60B3C68-2AD5-44FC-AAF3-C9FA4A5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Georgia"/>
                <a:ea typeface="Georgia"/>
                <a:cs typeface="Georgia"/>
              </a:rPr>
              <a:t>C</a:t>
            </a:r>
            <a:endParaRPr sz="2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40D8B8-C794-466F-8B4F-1D25D1B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Network safety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E736B02-2A08-487C-B0E9-5BD7710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HTTP guards reject private/local destinations and re-check redirect targets.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BEEDFA7-E483-4988-8D3F-8379C16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5C6670"/>
                </a:solidFill>
                <a:latin typeface="Aptos"/>
                <a:ea typeface="Aptos"/>
                <a:cs typeface="Aptos"/>
              </a:rPr>
              <a:t>Design principle: fail visibly rather than silently accepting uncertain or malformed results.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1496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D25220-1F75-413C-8A64-74F9A0A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 &amp; FUTURE WORK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86AFE5-5573-425D-8FEB-40F2934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EB81D9-54A6-4E1C-B797-996CB26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What remains to be improved</a:t>
            </a:r>
            <a:endParaRPr sz="3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df867a8134d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70699C-22F0-4BAC-84C0-6727EC7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3C84F9D-B92B-4418-8E1D-3ABCD7B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E31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02CA7B-2A74-462D-A3F7-8911302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AE3156"/>
                </a:solidFill>
                <a:latin typeface="Aptos"/>
                <a:ea typeface="Aptos"/>
                <a:cs typeface="Aptos"/>
              </a:rPr>
              <a:t>Current limitations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F204D5-D72C-4FF1-8B85-2B7776A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8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Source authority and licensing policies are not fully enforced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One repository provider and one RCP voter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Deduplication relies on the normalized dataset URL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Background jobs are process-local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No authentication, monitoring or human review workflow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F0DB460-4B67-44E3-B08B-7003BDF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3DAC770-5885-4A9D-A837-EBBCE81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Next steps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3A2C4F8-4233-415C-9947-76A9F3B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Evaluate additional repository providers and independent models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Strengthen official-source and licensing checks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Add a durable worker queue and retry policy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 deduplication by DOI, title and version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Harden production deployment and add a review interface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708731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A68575-1E08-4188-B162-9CC3572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4350"/>
            <a:ext cx="3108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Aptos"/>
                <a:ea typeface="Aptos"/>
                <a:cs typeface="Aptos"/>
              </a:rPr>
              <a:t>Key takeaway</a:t>
            </a:r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3B0C2-868D-43DF-BE76-AF97820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90625"/>
            <a:ext cx="10001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catalogue turns scattered dataset pages into searchable metadata.</a:t>
            </a:r>
            <a:endParaRPr sz="4000"/>
          </a:p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saved record passes automated classification and link validation.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77647D-CF07-4D75-B625-4FC9FA7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A70ED1-6AE2-4C1E-9CA1-C3C3135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 frontend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B6E3F7A-BE72-4814-AAF7-B0B80D4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68430C-0C87-45D9-B262-2BDADC3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FastAPI + collector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36A36DA-71A5-48DC-914B-F87A35D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D54D"/>
          </a:solidFill>
          <a:ln xmlns:a="http://schemas.openxmlformats.org/drawingml/2006/main" w="12700">
            <a:solidFill>
              <a:srgbClr val="F6D5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0ADD7B-B86F-4484-AAA9-A7AE7D55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 catalog</a:t>
            </a:r>
            <a:endParaRPr sz="1600"/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0e0a42019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BEFD206-444C-402C-B45E-DE4B810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93185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2026-09-07T07:27:22.1110000Z</dcterms:created>
  <dcterms:modified xsi:type="dcterms:W3CDTF">2026-09-07T07:27:22.1110000Z</dcterms:modified>
</coreProperties>
</file>