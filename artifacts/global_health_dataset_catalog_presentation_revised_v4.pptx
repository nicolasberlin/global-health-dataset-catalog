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5b785a90ab4dcd" /><Relationship Type="http://schemas.openxmlformats.org/officeDocument/2006/relationships/extended-properties" Target="/docProps/app.xml" Id="Ra127f7e17620441f" /><Relationship Type="http://schemas.openxmlformats.org/officeDocument/2006/relationships/officeDocument" Target="/ppt/presentation.xml" Id="R81171cdd6c2a45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062d728c064a20"/>
  </p:sldMasterIdLst>
  <p:notesMasterIdLst>
    <p:notesMasterId xmlns:r="http://schemas.openxmlformats.org/officeDocument/2006/relationships" r:id="Rb873216301744740"/>
  </p:notesMasterIdLst>
  <p:sldIdLst>
    <p:sldId xmlns:r="http://schemas.openxmlformats.org/officeDocument/2006/relationships" id="256" r:id="R9949c3769d1a4699"/>
    <p:sldId xmlns:r="http://schemas.openxmlformats.org/officeDocument/2006/relationships" id="257" r:id="R0cf114a776bc4582"/>
    <p:sldId xmlns:r="http://schemas.openxmlformats.org/officeDocument/2006/relationships" id="258" r:id="Ra8aaf62d04bd497a"/>
    <p:sldId xmlns:r="http://schemas.openxmlformats.org/officeDocument/2006/relationships" id="259" r:id="R51b073d0dd944fbd"/>
    <p:sldId xmlns:r="http://schemas.openxmlformats.org/officeDocument/2006/relationships" id="260" r:id="R983f67cf3f164bac"/>
    <p:sldId xmlns:r="http://schemas.openxmlformats.org/officeDocument/2006/relationships" id="261" r:id="R39c5ab62f0f84944"/>
    <p:sldId xmlns:r="http://schemas.openxmlformats.org/officeDocument/2006/relationships" id="262" r:id="R7f80f7f4dd414f89"/>
    <p:sldId xmlns:r="http://schemas.openxmlformats.org/officeDocument/2006/relationships" id="263" r:id="R8015b0bee8054ec9"/>
    <p:sldId xmlns:r="http://schemas.openxmlformats.org/officeDocument/2006/relationships" id="264" r:id="R186c14a34dac4e0b"/>
    <p:sldId xmlns:r="http://schemas.openxmlformats.org/officeDocument/2006/relationships" id="265" r:id="Ra0ceeb7412754e7b"/>
    <p:sldId xmlns:r="http://schemas.openxmlformats.org/officeDocument/2006/relationships" id="266" r:id="R2d9760ab1c3f420a"/>
    <p:sldId xmlns:r="http://schemas.openxmlformats.org/officeDocument/2006/relationships" id="267" r:id="R7387a5eeef634267"/>
    <p:sldId xmlns:r="http://schemas.openxmlformats.org/officeDocument/2006/relationships" id="268" r:id="Rb3080ad7d8984b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1c664ec26f4d9a" /><Relationship Type="http://schemas.openxmlformats.org/officeDocument/2006/relationships/slideMaster" Target="/ppt/slideMasters/slideMaster1.xml" Id="Rad062d728c064a20" /><Relationship Type="http://schemas.openxmlformats.org/officeDocument/2006/relationships/notesMaster" Target="/ppt/notesMasters/notesMaster1.xml" Id="Rb873216301744740" /><Relationship Type="http://schemas.openxmlformats.org/officeDocument/2006/relationships/presProps" Target="/ppt/presProps.xml" Id="R33dec85df53d45f1" /><Relationship Type="http://schemas.openxmlformats.org/officeDocument/2006/relationships/viewProps" Target="/ppt/viewProps.xml" Id="Rfadc92de8a064bdf" /><Relationship Type="http://schemas.openxmlformats.org/officeDocument/2006/relationships/tableStyles" Target="/ppt/tableStyles.xml" Id="R6fdacb3ec5c44a3e" /><Relationship Type="http://schemas.openxmlformats.org/officeDocument/2006/relationships/slide" Target="/ppt/slides/slide1.xml" Id="R9949c3769d1a4699" /><Relationship Type="http://schemas.openxmlformats.org/officeDocument/2006/relationships/slide" Target="/ppt/slides/slide2.xml" Id="R0cf114a776bc4582" /><Relationship Type="http://schemas.openxmlformats.org/officeDocument/2006/relationships/slide" Target="/ppt/slides/slide3.xml" Id="Ra8aaf62d04bd497a" /><Relationship Type="http://schemas.openxmlformats.org/officeDocument/2006/relationships/slide" Target="/ppt/slides/slide4.xml" Id="R51b073d0dd944fbd" /><Relationship Type="http://schemas.openxmlformats.org/officeDocument/2006/relationships/slide" Target="/ppt/slides/slide5.xml" Id="R983f67cf3f164bac" /><Relationship Type="http://schemas.openxmlformats.org/officeDocument/2006/relationships/slide" Target="/ppt/slides/slide6.xml" Id="R39c5ab62f0f84944" /><Relationship Type="http://schemas.openxmlformats.org/officeDocument/2006/relationships/slide" Target="/ppt/slides/slide7.xml" Id="R7f80f7f4dd414f89" /><Relationship Type="http://schemas.openxmlformats.org/officeDocument/2006/relationships/slide" Target="/ppt/slides/slide8.xml" Id="R8015b0bee8054ec9" /><Relationship Type="http://schemas.openxmlformats.org/officeDocument/2006/relationships/slide" Target="/ppt/slides/slide9.xml" Id="R186c14a34dac4e0b" /><Relationship Type="http://schemas.openxmlformats.org/officeDocument/2006/relationships/slide" Target="/ppt/slides/slide10.xml" Id="Ra0ceeb7412754e7b" /><Relationship Type="http://schemas.openxmlformats.org/officeDocument/2006/relationships/slide" Target="/ppt/slides/slide11.xml" Id="R2d9760ab1c3f420a" /><Relationship Type="http://schemas.openxmlformats.org/officeDocument/2006/relationships/slide" Target="/ppt/slides/slide12.xml" Id="R7387a5eeef634267" /><Relationship Type="http://schemas.openxmlformats.org/officeDocument/2006/relationships/slide" Target="/ppt/slides/slide13.xml" Id="Rb3080ad7d8984b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d55feec07e4f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49d44eb7e84428" /><Relationship Type="http://schemas.openxmlformats.org/officeDocument/2006/relationships/notesMaster" Target="/ppt/notesMasters/notesMaster1.xml" Id="R43ade139025145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10c84b1c194bf8" /><Relationship Type="http://schemas.openxmlformats.org/officeDocument/2006/relationships/notesMaster" Target="/ppt/notesMasters/notesMaster1.xml" Id="R8449dbeee02d47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dde9fbbcc844b9" /><Relationship Type="http://schemas.openxmlformats.org/officeDocument/2006/relationships/notesMaster" Target="/ppt/notesMasters/notesMaster1.xml" Id="Reaaf533c350f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99e53b0d6e4da5" /><Relationship Type="http://schemas.openxmlformats.org/officeDocument/2006/relationships/notesMaster" Target="/ppt/notesMasters/notesMaster1.xml" Id="R8aaf8f66bdd344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46083c14e1401a" /><Relationship Type="http://schemas.openxmlformats.org/officeDocument/2006/relationships/notesMaster" Target="/ppt/notesMasters/notesMaster1.xml" Id="R3e8c51ed424948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55660335f74094" /><Relationship Type="http://schemas.openxmlformats.org/officeDocument/2006/relationships/notesMaster" Target="/ppt/notesMasters/notesMaster1.xml" Id="Ra4b937be44844a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2a2a7ae4e4938" /><Relationship Type="http://schemas.openxmlformats.org/officeDocument/2006/relationships/notesMaster" Target="/ppt/notesMasters/notesMaster1.xml" Id="R00de1fa0f11a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9d16c142f14f84" /><Relationship Type="http://schemas.openxmlformats.org/officeDocument/2006/relationships/notesMaster" Target="/ppt/notesMasters/notesMaster1.xml" Id="Rdeab2cac07c1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a68d4737544b58" /><Relationship Type="http://schemas.openxmlformats.org/officeDocument/2006/relationships/notesMaster" Target="/ppt/notesMasters/notesMaster1.xml" Id="Rcce145e662a44d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63a3b320df84d01" /><Relationship Type="http://schemas.openxmlformats.org/officeDocument/2006/relationships/notesMaster" Target="/ppt/notesMasters/notesMaster1.xml" Id="Rd5e7ce136f1644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16df01bfa54678" /><Relationship Type="http://schemas.openxmlformats.org/officeDocument/2006/relationships/notesMaster" Target="/ppt/notesMasters/notesMaster1.xml" Id="Ra64846efb30145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bc96a839684dc0" /><Relationship Type="http://schemas.openxmlformats.org/officeDocument/2006/relationships/notesMaster" Target="/ppt/notesMasters/notesMaster1.xml" Id="Rbfd8de8059c7410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01bac1df9e4178" /><Relationship Type="http://schemas.openxmlformats.org/officeDocument/2006/relationships/notesMaster" Target="/ppt/notesMasters/notesMaster1.xml" Id="Re397d3f602e64e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project as a web application and data-engineering MVP, not as a scientific dataset analysis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Set expectations: this is a software project focused on search, collection, validation and cataloguing.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avoid over-claiming: the issue is not a new medical discovery, it is a discovery and cataloguing workflow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concise problem statement to say aloud. It is deliberately focused on users and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objective as an application objective, not a research hypothesis.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main components and emphasize separation of concerns.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two-stage logic: search produces candidates; automatic collection validates before saving.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how manual source collection and automatic candidate collection share the same downstream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Mention that the API contract can also be inspected through Swagger during local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summarizes what currently exists. Keep wording careful around source officiality.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to show the project is not just a simple CRUD app; it contains validation gates and safety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Position future work as natural engineering hardening rather than failure of the current MVP.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Finish by repeating the core pipeline and software value.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0fc512776c418a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d3456dc04a443d3" /><Relationship Type="http://schemas.openxmlformats.org/officeDocument/2006/relationships/slideLayout" Target="/ppt/slideLayouts/slideLayout1.xml" Id="R9c26e8b93f0041d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c26e8b93f0041d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e2c91a73104eb5" /><Relationship Type="http://schemas.openxmlformats.org/officeDocument/2006/relationships/image" Target="/ppt/media/image.png" Id="Rce1ed8a00f184651" /><Relationship Type="http://schemas.openxmlformats.org/officeDocument/2006/relationships/image" Target="/ppt/media/image2.png" Id="Rc18ea08a843e4b01" /><Relationship Type="http://schemas.openxmlformats.org/officeDocument/2006/relationships/notesSlide" Target="/ppt/notesSlides/notesSlide1.xml" Id="R9ed5c55bc3f740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ef2b96fc643cc" /><Relationship Type="http://schemas.openxmlformats.org/officeDocument/2006/relationships/image" Target="/ppt/media/image3.png" Id="R127f4e12daa54b8d" /><Relationship Type="http://schemas.openxmlformats.org/officeDocument/2006/relationships/notesSlide" Target="/ppt/notesSlides/notesSlide2.xml" Id="Rba6c60b5b54741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ebdb7a9fe4f69" /><Relationship Type="http://schemas.openxmlformats.org/officeDocument/2006/relationships/image" Target="/ppt/media/image3.png" Id="R248bbd34d8c0410e" /><Relationship Type="http://schemas.openxmlformats.org/officeDocument/2006/relationships/notesSlide" Target="/ppt/notesSlides/notesSlide3.xml" Id="Rbd3ca1a7784b46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22b997cbc4b84" /><Relationship Type="http://schemas.openxmlformats.org/officeDocument/2006/relationships/image" Target="/ppt/media/image2.png" Id="Rbbeea016ec344194" /><Relationship Type="http://schemas.openxmlformats.org/officeDocument/2006/relationships/notesSlide" Target="/ppt/notesSlides/notesSlide4.xml" Id="R52a145eb60464c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9a85778544a68" /><Relationship Type="http://schemas.openxmlformats.org/officeDocument/2006/relationships/image" Target="/ppt/media/image3.png" Id="Re5ba7256642b4e96" /><Relationship Type="http://schemas.openxmlformats.org/officeDocument/2006/relationships/notesSlide" Target="/ppt/notesSlides/notesSlide5.xml" Id="R13d688db3bd04b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5675cbb494409" /><Relationship Type="http://schemas.openxmlformats.org/officeDocument/2006/relationships/image" Target="/ppt/media/image3.png" Id="R5e749852ade24b20" /><Relationship Type="http://schemas.openxmlformats.org/officeDocument/2006/relationships/notesSlide" Target="/ppt/notesSlides/notesSlide6.xml" Id="R396d3edd4db74e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39c0d16514599" /><Relationship Type="http://schemas.openxmlformats.org/officeDocument/2006/relationships/image" Target="/ppt/media/image3.png" Id="R6c2e561b5de746e3" /><Relationship Type="http://schemas.openxmlformats.org/officeDocument/2006/relationships/notesSlide" Target="/ppt/notesSlides/notesSlide7.xml" Id="Rabade5e46ca5469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e60a9813b4934" /><Relationship Type="http://schemas.openxmlformats.org/officeDocument/2006/relationships/image" Target="/ppt/media/image3.png" Id="R880e95750b174e22" /><Relationship Type="http://schemas.openxmlformats.org/officeDocument/2006/relationships/notesSlide" Target="/ppt/notesSlides/notesSlide8.xml" Id="Rd6936dcef75a4c4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508651bdce433e" /><Relationship Type="http://schemas.openxmlformats.org/officeDocument/2006/relationships/image" Target="/ppt/media/image3.png" Id="Rcb7b622822f74b63" /><Relationship Type="http://schemas.openxmlformats.org/officeDocument/2006/relationships/notesSlide" Target="/ppt/notesSlides/notesSlide9.xml" Id="R2015dc4ebdc146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ee01c65814204" /><Relationship Type="http://schemas.openxmlformats.org/officeDocument/2006/relationships/image" Target="/ppt/media/image3.png" Id="R1ed108055ef5412c" /><Relationship Type="http://schemas.openxmlformats.org/officeDocument/2006/relationships/notesSlide" Target="/ppt/notesSlides/notesSlide10.xml" Id="R5467655a70c149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cd3d04ce64d64" /><Relationship Type="http://schemas.openxmlformats.org/officeDocument/2006/relationships/image" Target="/ppt/media/image3.png" Id="R72a32291105342a0" /><Relationship Type="http://schemas.openxmlformats.org/officeDocument/2006/relationships/notesSlide" Target="/ppt/notesSlides/notesSlide11.xml" Id="R7d2c8f31fa8a4ba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ad9e43e4b4b39" /><Relationship Type="http://schemas.openxmlformats.org/officeDocument/2006/relationships/image" Target="/ppt/media/image3.png" Id="R600000d8e61f423e" /><Relationship Type="http://schemas.openxmlformats.org/officeDocument/2006/relationships/notesSlide" Target="/ppt/notesSlides/notesSlide12.xml" Id="R779af57c30704c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61665175c4015" /><Relationship Type="http://schemas.openxmlformats.org/officeDocument/2006/relationships/image" Target="/ppt/media/image2.png" Id="R895d9e3f7d8d4bfe" /><Relationship Type="http://schemas.openxmlformats.org/officeDocument/2006/relationships/notesSlide" Target="/ppt/notesSlides/notesSlide13.xml" Id="Rb41314d5b6844b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6ACE58E-FA87-4BD6-9ACE-F60BFF4CF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DBDD1B-2D6C-4845-870F-0014A072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STUDENT PRESENTATION</a:t>
            </a:r>
            <a:endParaRPr sz="13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42D8F3-7AB2-428F-B97E-63C1BE69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1480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2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EPFL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7FFB32A-D327-433F-B223-F6760F0D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78992"/>
            <a:ext cx="603504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Global Health</a:t>
            </a:r>
            <a:endParaRPr sz="450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45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Dataset Catalog</a:t>
            </a:r>
            <a:endParaRPr sz="45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B8C254F-70EF-49AB-944D-D8D1D7C9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80360"/>
            <a:ext cx="5943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Web application for dataset discovery, validation and cataloguing</a:t>
            </a:r>
            <a:endParaRPr sz="175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8E764F6-6CAC-463A-AB15-51AE3F7C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325880"/>
            <a:ext cx="4663440" cy="2834640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ed8a00f18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19653" y="1627632"/>
            <a:ext cx="4056670" cy="2240280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B02A479-9DB0-4950-8B64-CA38FB6D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572000"/>
            <a:ext cx="4114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Nicolas Berlin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47B4D0A-07B3-40C5-8968-2A52BAD9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49377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Supervised by: David Sasu, Aurélien Macé</a:t>
            </a:r>
            <a:endParaRPr sz="1250">
              <a:latin typeface="DM Serif Text"/>
              <a:ea typeface="DM Serif Text"/>
              <a:cs typeface="DM Serif Text"/>
            </a:endParaRPr>
          </a:p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September 2026</a:t>
            </a:r>
            <a:endParaRPr sz="125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ea08a843e4b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D32993BE-F959-4F73-A96A-34FB4A77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85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2135935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1DC562-1106-44F3-A5D9-A3FFC633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OVERVIEW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CCBE55-2656-4743-A579-15F27ECB5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571EC4C-36FD-47BA-969A-EEB9D7D7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Presentation outline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f4e12daa54b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1B6A749-A983-4DF2-922F-28BE9EDA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58CD913-EA64-4D1A-A1B3-C9C9100C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38528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C6868C-FB71-4AC7-82AF-1B28678C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1828800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3A8D119-DD53-41B3-879F-0CF8455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1938528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1121A0E-1EB9-4AAE-9465-6BA2C4CC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596896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8ACA6B9-752B-4620-9386-83631179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487168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006A331-0549-44A6-8AE6-B8215D51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2596896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F7254C-AB33-4427-99AC-ED91D763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255264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79D2523C-BE53-43B8-AF7D-33EA4413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145536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56A3DEF-AC4B-4163-A00F-8C096003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55264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System architecture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BEDB5FF-1233-44F0-A993-485B8C0A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913632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04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6F87FCF-D7AC-4285-83D1-ECCE02F9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803904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CB2368A-FC66-4F72-A42D-78AFEE08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913632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Workflows &amp; implementation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0A0F408-3974-4474-8748-E06D0D70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572000"/>
            <a:ext cx="4114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05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1D6B752F-4BFA-407D-AF0F-CC1E97E8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62272"/>
            <a:ext cx="4160520" cy="420624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3572A7A-A744-45BB-A2E1-D45AEDB1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572000"/>
            <a:ext cx="36576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Current status &amp; future work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CE4B4E30-223C-49F9-B334-AAAC5C39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874520"/>
            <a:ext cx="4114800" cy="265176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0E0E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9AE3AB93-C81D-42E1-9081-61F0FADC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212848"/>
            <a:ext cx="3383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Project focus</a:t>
            </a:r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B9729672-79F8-4666-B09F-F0BEACD8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160" y="2788920"/>
            <a:ext cx="32461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A metadata-first catalogue that helps users find dataset pages and inspect validated access links.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3113911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5AC1B89-00C8-4B1A-B593-CD461338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CONTEXT &amp; PROBLEM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3EEE4AA-EC82-4C19-88DF-63C2A967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F681EBD-FDD6-4BE0-B761-D5A26D20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Why this application is needed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bbd34d8c0410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490ABFD-42F2-4A24-A1E5-0EF09229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643B343E-0A6F-4275-BA83-76214A58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042CFD9-92DD-4823-B457-D029E7A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01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807FDB6-98EB-4AD9-B7A8-8B61F719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Heterogeneous sources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F515ED1-A8A9-449E-8F4A-61A25568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Dataset pages are spread across repository metadata, open-data portals, APIs and regular websites.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9A7435E-74A1-43D9-A4B0-F240BA7A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BD181CAB-DB82-403E-BFA8-77569C20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02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3EA30BE-F13C-4093-BD74-003AA02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Manual checks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4B20D2AE-BAB8-43B2-A430-C425CF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Users still need to verify relevance, dataset-page identity, download links and API availability.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400203E-2011-4F45-8598-2B5C7CCD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47088"/>
            <a:ext cx="3337560" cy="3246120"/>
          </a:xfrm>
          <a:prstGeom xmlns:a="http://schemas.openxmlformats.org/drawingml/2006/main" prst="roundRect">
            <a:avLst>
              <a:gd name="adj" fmla="val 338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0054EE6-B1BF-438E-8F4F-085B2022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075688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03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FD12D96-04B8-4621-B454-651AD30B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24328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No unified workflow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B6DD712-5C19-4FAB-A4C5-FE3E6C86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17520"/>
            <a:ext cx="2825496" cy="1892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Search, classification, validation and persistence are often handled as separate steps.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1F2BDC78-B9F1-4F09-A7AF-D28B16F8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440680"/>
            <a:ext cx="10469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5C6670"/>
                </a:solidFill>
                <a:latin typeface="DM Serif Text"/>
                <a:ea typeface="DM Serif Text"/>
                <a:cs typeface="DM Serif Text"/>
              </a:rPr>
              <a:t>The project addresses the workflow around dataset metadata. It does not perform scientific analysis of the datasets.</a:t>
            </a:r>
            <a:endParaRPr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91638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9E2A9C-4095-4A72-BF05-78C76DBB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6C00EA3-1D86-4F58-B3F0-F95F6E83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FE7">
              <a:alpha val="90000"/>
            </a:srgbClr>
          </a:solidFill>
          <a:ln xmlns:a="http://schemas.openxmlformats.org/drawingml/2006/main" w="12700">
            <a:solidFill>
              <a:srgbClr val="68AFE7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43F0510-7ED6-40AD-BFC5-83341D8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STATEMENT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3BB0BCA-265A-4069-80BD-A7CBBFFD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216152"/>
            <a:ext cx="10241280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DM Serif Text"/>
                <a:ea typeface="DM Serif Text"/>
                <a:cs typeface="DM Serif Text"/>
              </a:rPr>
              <a:t>Technical users need one workflow to discover, classify, validate and catalogue global health dataset pages.</a:t>
            </a:r>
            <a:endParaRPr sz="4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F0F24F-E416-4F42-9828-03D3F32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251960"/>
            <a:ext cx="7863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A DATA ENGINEERING / SOFTWARE ENGINEERING PERSPECTIVE</a:t>
            </a:r>
            <a:endParaRPr sz="1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ea016ec3441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05DDCC2-DB1B-4D76-8E41-97EA329E8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90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D26D57D-C15C-4B86-B1C9-089B0440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93792"/>
            <a:ext cx="9601200" cy="6858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A2AA0FE-E5DE-4112-89FA-EDA89C40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404104"/>
            <a:ext cx="89611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0C43A0"/>
                </a:solidFill>
                <a:latin typeface="Aptos"/>
                <a:ea typeface="Aptos"/>
                <a:cs typeface="Aptos"/>
              </a:rPr>
              <a:t>Scope: the application stores metadata and access links; it does not download or retain full dataset files.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484873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CD54B3-E689-4EFA-BC0D-AAC02AB92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D7E388-8412-45E8-AAF7-4F5D2EE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A31EAE-5C20-4872-A80D-693BE88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Project objective and scope</a:t>
            </a:r>
            <a:endParaRPr sz="3600">
              <a:latin typeface="DM Serif Text"/>
              <a:ea typeface="DM Serif Text"/>
              <a:cs typeface="DM Serif Text"/>
            </a:endParaRPr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a7256642b4e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DA791BF-1281-4A32-87C7-5863E825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5</a:t>
            </a:r>
            <a:endParaRPr sz="1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CC5762D-35D4-42E4-A566-C2D416F4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54200"/>
            <a:ext cx="101498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2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How can one application discover and catalogue global health datasets across heterogeneous sources?</a:t>
            </a:r>
            <a:endParaRPr sz="32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786F1C8-D3E4-413F-A5B6-210795E8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C99E57-1171-42F6-8DA8-43FEEAFE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DM Serif Text"/>
                <a:ea typeface="DM Serif Text"/>
                <a:cs typeface="DM Serif Text"/>
              </a:rPr>
              <a:t>1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34B3B10-817E-497C-96E1-A4C11190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&amp; discover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E6E949D-DBBA-45E3-AFB5-5F7A94CB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Search local PostgreSQL first and fall back to external repository metadata when needed.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DB6B77BA-A86A-4CBD-9C75-3EFFECC4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67DD4BB-D854-47EC-8E79-5438C38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DM Serif Text"/>
                <a:ea typeface="DM Serif Text"/>
                <a:cs typeface="DM Serif Text"/>
              </a:rPr>
              <a:t>2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23DADDF-902C-4770-8810-7BDC8AF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Classify &amp; validate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21F4CC9-200B-478F-850F-4D004045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Use EPFL RCP to classify candidates and validate candidate download/API links.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4D829B5B-17D2-4E64-8C52-24DD729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237153"/>
            <a:ext cx="3337560" cy="2121408"/>
          </a:xfrm>
          <a:prstGeom xmlns:a="http://schemas.openxmlformats.org/drawingml/2006/main" prst="roundRect">
            <a:avLst>
              <a:gd name="adj" fmla="val 5172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22C6BD2-FAB8-4325-A304-CE8099D24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465753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DM Serif Text"/>
                <a:ea typeface="DM Serif Text"/>
                <a:cs typeface="DM Serif Text"/>
              </a:rPr>
              <a:t>3</a:t>
            </a:r>
            <a:endParaRPr sz="28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23B289-B116-401C-B93F-899179A4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014393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Catalogue &amp; inspect</a:t>
            </a:r>
            <a:endParaRPr sz="2000">
              <a:latin typeface="DM Serif Text"/>
              <a:ea typeface="DM Serif Text"/>
              <a:cs typeface="DM Serif Text"/>
            </a:endParaRP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82AE728-9351-40A6-9242-15B8F764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4407585"/>
            <a:ext cx="2825496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DM Serif Text"/>
                <a:ea typeface="DM Serif Text"/>
                <a:cs typeface="DM Serif Text"/>
              </a:rPr>
              <a:t>Persist datasets that pass page classification and distribution validation.</a:t>
            </a:r>
            <a:endParaRPr sz="1600">
              <a:latin typeface="DM Serif Text"/>
              <a:ea typeface="DM Serif Text"/>
              <a:cs typeface="DM Serif Text"/>
            </a:endParaRPr>
          </a:p>
        </p:txBody>
      </p:sp>
    </p:spTree>
    <p:extLst>
      <p:ext uri="{BB962C8B-B14F-4D97-AF65-F5344CB8AC3E}">
        <p14:creationId xmlns:p14="http://schemas.microsoft.com/office/powerpoint/2010/main" val="11418238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80640C-E1F1-4A02-A6E4-B1BF3881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SYSTEM ARCHITECTURE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1946CE-76C7-4128-B0F2-C064DE6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0A3DB3-4661-4097-9DB2-72773F2A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55460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React, FastAPI, services and PostgreSQL</a:t>
            </a:r>
            <a:endParaRPr sz="3600"/>
          </a:p>
        </p:txBody>
      </p:sp>
      <p:pic>
        <p:nvPicPr>
          <p:cNvPr id="6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49852ade24b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C79ACCF-6D5B-4985-9DD5-4D4651D7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11111"/>
                </a:solidFill>
                <a:latin typeface="Aptos"/>
                <a:ea typeface="Aptos"/>
                <a:cs typeface="Aptos"/>
              </a:rPr>
              <a:t>6</a:t>
            </a:r>
            <a:endParaRPr sz="850"/>
          </a:p>
        </p:txBody>
      </p:sp>
      <p:sp>
        <p:nvSpPr>
          <p:cNvPr id="30" name="architecture-frontend">
            <a:extLst xmlns:a="http://schemas.openxmlformats.org/drawingml/2006/main">
              <a:ext uri="{FF2B5EF4-FFF2-40B4-BE49-F238E27FC236}">
                <a16:creationId xmlns:a16="http://schemas.microsoft.com/office/drawing/2014/main" id="{B49CFABC-F52E-4116-B158-9CF6E36B0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31" name="architecture-backend">
            <a:extLst xmlns:a="http://schemas.openxmlformats.org/drawingml/2006/main">
              <a:ext uri="{FF2B5EF4-FFF2-40B4-BE49-F238E27FC236}">
                <a16:creationId xmlns:a16="http://schemas.microsoft.com/office/drawing/2014/main" id="{76E83B16-6AF3-4562-8793-65BBD4A8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14625"/>
            <a:ext cx="16192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32" name="architecture-search">
            <a:extLst xmlns:a="http://schemas.openxmlformats.org/drawingml/2006/main">
              <a:ext uri="{FF2B5EF4-FFF2-40B4-BE49-F238E27FC236}">
                <a16:creationId xmlns:a16="http://schemas.microsoft.com/office/drawing/2014/main" id="{F02A7470-6327-49A8-B01E-81575093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952625"/>
            <a:ext cx="2333625" cy="8763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Repository search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 + RCP relevance</a:t>
            </a:r>
          </a:p>
        </p:txBody>
      </p:sp>
      <p:sp>
        <p:nvSpPr>
          <p:cNvPr id="33" name="architecture-collector">
            <a:extLst xmlns:a="http://schemas.openxmlformats.org/drawingml/2006/main">
              <a:ext uri="{FF2B5EF4-FFF2-40B4-BE49-F238E27FC236}">
                <a16:creationId xmlns:a16="http://schemas.microsoft.com/office/drawing/2014/main" id="{FA1B718C-11AE-4C3A-B6B6-B8A9CBA9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76625"/>
            <a:ext cx="2333625" cy="100012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Collector pipeline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 + page RCP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+ link validation</a:t>
            </a:r>
          </a:p>
        </p:txBody>
      </p:sp>
      <p:sp>
        <p:nvSpPr>
          <p:cNvPr id="34" name="architecture-database">
            <a:extLst xmlns:a="http://schemas.openxmlformats.org/drawingml/2006/main">
              <a:ext uri="{FF2B5EF4-FFF2-40B4-BE49-F238E27FC236}">
                <a16:creationId xmlns:a16="http://schemas.microsoft.com/office/drawing/2014/main" id="{7F56AFE9-6BA2-4D7B-AB49-1597FE9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3812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sources, jobs and catalogue</a:t>
            </a:r>
          </a:p>
        </p:txBody>
      </p:sp>
      <p:sp>
        <p:nvSpPr>
          <p:cNvPr id="40" name="architecture-summary">
            <a:extLst xmlns:a="http://schemas.openxmlformats.org/drawingml/2006/main">
              <a:ext uri="{FF2B5EF4-FFF2-40B4-BE49-F238E27FC236}">
                <a16:creationId xmlns:a16="http://schemas.microsoft.com/office/drawing/2014/main" id="{7D494A7C-F9AA-4C11-82AD-9C8A4FE7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86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FastAPI orchestrates search and collection. PostgreSQL supports local lookup, job state and validated persistence.</a:t>
            </a:r>
          </a:p>
        </p:txBody>
      </p:sp>
      <p:cxnSp>
        <p:nvCxnSpPr>
          <p:cNvPr id="73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238375" y="31051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31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 flipV="1">
            <a:off x="4381500" y="2390775"/>
            <a:ext cx="7143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31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381500" y="3105150"/>
            <a:ext cx="714375" cy="8715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32" idx="3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7429500" y="2390775"/>
            <a:ext cx="2333625" cy="2762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33" idx="3"/>
            <a:endCxn xmlns:a="http://schemas.openxmlformats.org/drawingml/2006/main" id="34" idx="2"/>
          </p:cNvCxnSpPr>
          <p:nvPr/>
        </p:nvCxnSpPr>
        <p:spPr>
          <a:xfrm xmlns:a="http://schemas.openxmlformats.org/drawingml/2006/main" flipV="1">
            <a:off x="7429500" y="3619500"/>
            <a:ext cx="2333625" cy="357188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20544068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C05FAC-FF09-4C6C-BE14-8BE16A1F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ENTRY POINT 1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FF04D2-3841-4DF3-B19B-005D48C7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6262252-A5AD-40F3-9EEE-5648C091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970788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Repository search and automatic collection</a:t>
            </a:r>
            <a:endParaRPr sz="3600"/>
          </a:p>
        </p:txBody>
      </p:sp>
      <p:pic>
        <p:nvPicPr>
          <p:cNvPr id="8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e561b5de746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5E19B70-FF34-46A5-81F7-5DDB894E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7</a:t>
            </a:r>
            <a:endParaRPr sz="1000"/>
          </a:p>
        </p:txBody>
      </p:sp>
      <p:sp>
        <p:nvSpPr>
          <p:cNvPr id="27" name="search-query">
            <a:extLst xmlns:a="http://schemas.openxmlformats.org/drawingml/2006/main">
              <a:ext uri="{FF2B5EF4-FFF2-40B4-BE49-F238E27FC236}">
                <a16:creationId xmlns:a16="http://schemas.microsoft.com/office/drawing/2014/main" id="{9E4FE1A6-C9E6-465A-85DB-702D2802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333625"/>
            <a:ext cx="1285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query</a:t>
            </a:r>
          </a:p>
        </p:txBody>
      </p:sp>
      <p:sp>
        <p:nvSpPr>
          <p:cNvPr id="28" name="search-local">
            <a:extLst xmlns:a="http://schemas.openxmlformats.org/drawingml/2006/main">
              <a:ext uri="{FF2B5EF4-FFF2-40B4-BE49-F238E27FC236}">
                <a16:creationId xmlns:a16="http://schemas.microsoft.com/office/drawing/2014/main" id="{33ADB97F-B3E4-4F26-8432-A9CD03E1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33625"/>
            <a:ext cx="1428750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</a:t>
            </a:r>
          </a:p>
        </p:txBody>
      </p:sp>
      <p:sp>
        <p:nvSpPr>
          <p:cNvPr id="29" name="search-datacite">
            <a:extLst xmlns:a="http://schemas.openxmlformats.org/drawingml/2006/main">
              <a:ext uri="{FF2B5EF4-FFF2-40B4-BE49-F238E27FC236}">
                <a16:creationId xmlns:a16="http://schemas.microsoft.com/office/drawing/2014/main" id="{4C2F864A-A524-462A-A927-7AB6AEA8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DataCite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0" name="search-relevance">
            <a:extLst xmlns:a="http://schemas.openxmlformats.org/drawingml/2006/main">
              <a:ext uri="{FF2B5EF4-FFF2-40B4-BE49-F238E27FC236}">
                <a16:creationId xmlns:a16="http://schemas.microsoft.com/office/drawing/2014/main" id="{595BC6B2-68B2-4B2B-A400-A240E19F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33625"/>
            <a:ext cx="15716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relevance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check</a:t>
            </a:r>
          </a:p>
        </p:txBody>
      </p:sp>
      <p:sp>
        <p:nvSpPr>
          <p:cNvPr id="31" name="search-job">
            <a:extLst xmlns:a="http://schemas.openxmlformats.org/drawingml/2006/main">
              <a:ext uri="{FF2B5EF4-FFF2-40B4-BE49-F238E27FC236}">
                <a16:creationId xmlns:a16="http://schemas.microsoft.com/office/drawing/2014/main" id="{74C96B32-3022-4115-9492-C5401659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166687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Reserve or reuse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collection job</a:t>
            </a:r>
          </a:p>
        </p:txBody>
      </p:sp>
      <p:sp>
        <p:nvSpPr>
          <p:cNvPr id="32" name="search-stored">
            <a:extLst xmlns:a="http://schemas.openxmlformats.org/drawingml/2006/main">
              <a:ext uri="{FF2B5EF4-FFF2-40B4-BE49-F238E27FC236}">
                <a16:creationId xmlns:a16="http://schemas.microsoft.com/office/drawing/2014/main" id="{A7A6D2C9-C0D1-408A-86E6-5C6C9C41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333625"/>
            <a:ext cx="1381125" cy="7429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persistence</a:t>
            </a:r>
          </a:p>
        </p:txBody>
      </p:sp>
      <p:sp>
        <p:nvSpPr>
          <p:cNvPr id="33" name="search-local-return">
            <a:extLst xmlns:a="http://schemas.openxmlformats.org/drawingml/2006/main">
              <a:ext uri="{FF2B5EF4-FFF2-40B4-BE49-F238E27FC236}">
                <a16:creationId xmlns:a16="http://schemas.microsoft.com/office/drawing/2014/main" id="{D976F6FE-62C0-4681-8E51-B419383B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571875"/>
            <a:ext cx="1619250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Local match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Return immediately</a:t>
            </a:r>
          </a:p>
        </p:txBody>
      </p:sp>
      <p:sp>
        <p:nvSpPr>
          <p:cNvPr id="34" name="search-rejected">
            <a:extLst xmlns:a="http://schemas.openxmlformats.org/drawingml/2006/main">
              <a:ext uri="{FF2B5EF4-FFF2-40B4-BE49-F238E27FC236}">
                <a16:creationId xmlns:a16="http://schemas.microsoft.com/office/drawing/2014/main" id="{2D580F90-44B0-4617-9970-54DBCC98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71875"/>
            <a:ext cx="1762125" cy="5524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Rejected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collection</a:t>
            </a:r>
          </a:p>
        </p:txBody>
      </p:sp>
      <p:sp>
        <p:nvSpPr>
          <p:cNvPr id="35" name="search-validation">
            <a:extLst xmlns:a="http://schemas.openxmlformats.org/drawingml/2006/main">
              <a:ext uri="{FF2B5EF4-FFF2-40B4-BE49-F238E27FC236}">
                <a16:creationId xmlns:a16="http://schemas.microsoft.com/office/drawing/2014/main" id="{89689009-2EF8-48FF-B2C3-39A843AC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1857375" cy="6477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RCP +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link validation</a:t>
            </a:r>
          </a:p>
        </p:txBody>
      </p:sp>
      <p:sp>
        <p:nvSpPr>
          <p:cNvPr id="44" name="search-no-local-label">
            <a:extLst xmlns:a="http://schemas.openxmlformats.org/drawingml/2006/main">
              <a:ext uri="{FF2B5EF4-FFF2-40B4-BE49-F238E27FC236}">
                <a16:creationId xmlns:a16="http://schemas.microsoft.com/office/drawing/2014/main" id="{D263656B-9C35-4B19-B7D9-7F6757FC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No local match</a:t>
            </a:r>
          </a:p>
        </p:txBody>
      </p:sp>
      <p:sp>
        <p:nvSpPr>
          <p:cNvPr id="45" name="search-accepted-label">
            <a:extLst xmlns:a="http://schemas.openxmlformats.org/drawingml/2006/main">
              <a:ext uri="{FF2B5EF4-FFF2-40B4-BE49-F238E27FC236}">
                <a16:creationId xmlns:a16="http://schemas.microsoft.com/office/drawing/2014/main" id="{6EF36EEC-7640-42A6-98A3-90CEA5AA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19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</a:t>
            </a:r>
          </a:p>
        </p:txBody>
      </p:sp>
      <p:sp>
        <p:nvSpPr>
          <p:cNvPr id="46" name="search-valid-label">
            <a:extLst xmlns:a="http://schemas.openxmlformats.org/drawingml/2006/main">
              <a:ext uri="{FF2B5EF4-FFF2-40B4-BE49-F238E27FC236}">
                <a16:creationId xmlns:a16="http://schemas.microsoft.com/office/drawing/2014/main" id="{FF1B218E-7EF0-420F-9004-46CAC32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Valid only</a:t>
            </a:r>
          </a:p>
        </p:txBody>
      </p:sp>
      <p:sp>
        <p:nvSpPr>
          <p:cNvPr id="47" name="search-rule">
            <a:extLst xmlns:a="http://schemas.openxmlformats.org/drawingml/2006/main">
              <a:ext uri="{FF2B5EF4-FFF2-40B4-BE49-F238E27FC236}">
                <a16:creationId xmlns:a16="http://schemas.microsoft.com/office/drawing/2014/main" id="{DEAA154D-294C-440D-9DA8-85C4F180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Accepted includes relevant and somewhat relevant. External repository metadata is never copied directly into the catalogue.</a:t>
            </a:r>
          </a:p>
        </p:txBody>
      </p:sp>
      <p:cxnSp>
        <p:nvCxnSpPr>
          <p:cNvPr id="97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1714500" y="270510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3571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4768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7572375" y="2705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8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0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0" idx="2"/>
            <a:endCxn xmlns:a="http://schemas.openxmlformats.org/drawingml/2006/main" id="34" idx="0"/>
          </p:cNvCxnSpPr>
          <p:nvPr/>
        </p:nvCxnSpPr>
        <p:spPr>
          <a:xfrm xmlns:a="http://schemas.openxmlformats.org/drawingml/2006/main">
            <a:off x="6786563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1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8929688" y="3076575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5" idx="3"/>
            <a:endCxn xmlns:a="http://schemas.openxmlformats.org/drawingml/2006/main" id="32" idx="2"/>
          </p:cNvCxnSpPr>
          <p:nvPr/>
        </p:nvCxnSpPr>
        <p:spPr>
          <a:xfrm xmlns:a="http://schemas.openxmlformats.org/drawingml/2006/main" flipV="1">
            <a:off x="9858375" y="3076575"/>
            <a:ext cx="1214438" cy="8191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8266500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273FA5-B9B0-47AC-B8BB-0C97591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SHARED COLLECTION PIPELINE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33E5BEB-F8BD-4ED1-9115-5EF6FA68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F4C2E14-6638-4D80-BE21-41F36579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Source collection pipeline</a:t>
            </a:r>
            <a:endParaRPr sz="3600"/>
          </a:p>
        </p:txBody>
      </p:sp>
      <p:pic>
        <p:nvPicPr>
          <p:cNvPr id="8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0e95750b174e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EAD029-2E9A-4E3C-A4A0-2B7EFC09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8</a:t>
            </a:r>
            <a:endParaRPr sz="1000"/>
          </a:p>
        </p:txBody>
      </p:sp>
      <p:sp>
        <p:nvSpPr>
          <p:cNvPr id="32" name="collection-configured">
            <a:extLst xmlns:a="http://schemas.openxmlformats.org/drawingml/2006/main">
              <a:ext uri="{FF2B5EF4-FFF2-40B4-BE49-F238E27FC236}">
                <a16:creationId xmlns:a16="http://schemas.microsoft.com/office/drawing/2014/main" id="{8456AC4A-BFA7-45FC-8774-D85034CC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Configured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3" name="collection-candidate">
            <a:extLst xmlns:a="http://schemas.openxmlformats.org/drawingml/2006/main">
              <a:ext uri="{FF2B5EF4-FFF2-40B4-BE49-F238E27FC236}">
                <a16:creationId xmlns:a16="http://schemas.microsoft.com/office/drawing/2014/main" id="{096A95CA-341C-4211-AA78-0CC93966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143250"/>
            <a:ext cx="1428750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Accepted repository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candidate</a:t>
            </a:r>
          </a:p>
        </p:txBody>
      </p:sp>
      <p:sp>
        <p:nvSpPr>
          <p:cNvPr id="34" name="collection-discovery">
            <a:extLst xmlns:a="http://schemas.openxmlformats.org/drawingml/2006/main">
              <a:ext uri="{FF2B5EF4-FFF2-40B4-BE49-F238E27FC236}">
                <a16:creationId xmlns:a16="http://schemas.microsoft.com/office/drawing/2014/main" id="{DF62D1D9-6BEB-4E2C-BA55-FF706819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097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source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through an adapter</a:t>
            </a:r>
          </a:p>
        </p:txBody>
      </p:sp>
      <p:sp>
        <p:nvSpPr>
          <p:cNvPr id="35" name="collection-landing">
            <a:extLst xmlns:a="http://schemas.openxmlformats.org/drawingml/2006/main">
              <a:ext uri="{FF2B5EF4-FFF2-40B4-BE49-F238E27FC236}">
                <a16:creationId xmlns:a16="http://schemas.microsoft.com/office/drawing/2014/main" id="{0AAA2426-4F3A-41B0-8B77-2BE53B5E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143250"/>
            <a:ext cx="1762125" cy="6858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 candidate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page only</a:t>
            </a:r>
          </a:p>
        </p:txBody>
      </p:sp>
      <p:sp>
        <p:nvSpPr>
          <p:cNvPr id="36" name="collection-extraction">
            <a:extLst xmlns:a="http://schemas.openxmlformats.org/drawingml/2006/main">
              <a:ext uri="{FF2B5EF4-FFF2-40B4-BE49-F238E27FC236}">
                <a16:creationId xmlns:a16="http://schemas.microsoft.com/office/drawing/2014/main" id="{C5334CFA-3EE4-4027-94D2-57C3F4EA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171450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Metadata +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extraction</a:t>
            </a:r>
          </a:p>
        </p:txBody>
      </p:sp>
      <p:sp>
        <p:nvSpPr>
          <p:cNvPr id="37" name="collection-page-rcp">
            <a:extLst xmlns:a="http://schemas.openxmlformats.org/drawingml/2006/main">
              <a:ext uri="{FF2B5EF4-FFF2-40B4-BE49-F238E27FC236}">
                <a16:creationId xmlns:a16="http://schemas.microsoft.com/office/drawing/2014/main" id="{4D1D27E3-F7DE-4CF8-B975-FEC395A9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AE315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RCP page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classification</a:t>
            </a:r>
          </a:p>
        </p:txBody>
      </p:sp>
      <p:sp>
        <p:nvSpPr>
          <p:cNvPr id="38" name="collection-links">
            <a:extLst xmlns:a="http://schemas.openxmlformats.org/drawingml/2006/main">
              <a:ext uri="{FF2B5EF4-FFF2-40B4-BE49-F238E27FC236}">
                <a16:creationId xmlns:a16="http://schemas.microsoft.com/office/drawing/2014/main" id="{BD5A119B-8366-416E-BFCC-11097CB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428750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4288">
            <a:solidFill>
              <a:srgbClr val="EBA54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Download / API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9" name="collection-database">
            <a:extLst xmlns:a="http://schemas.openxmlformats.org/drawingml/2006/main">
              <a:ext uri="{FF2B5EF4-FFF2-40B4-BE49-F238E27FC236}">
                <a16:creationId xmlns:a16="http://schemas.microsoft.com/office/drawing/2014/main" id="{998B992F-1955-4A5A-B9ED-41217FE4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476500"/>
            <a:ext cx="1000125" cy="7810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C43A0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47" name="collection-families-heading">
            <a:extLst xmlns:a="http://schemas.openxmlformats.org/drawingml/2006/main">
              <a:ext uri="{FF2B5EF4-FFF2-40B4-BE49-F238E27FC236}">
                <a16:creationId xmlns:a16="http://schemas.microsoft.com/office/drawing/2014/main" id="{C183284F-75A6-4F6B-9DBE-C7366033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Discovery families for configured sources</a:t>
            </a:r>
          </a:p>
        </p:txBody>
      </p:sp>
      <p:sp>
        <p:nvSpPr>
          <p:cNvPr id="48" name="family-ckan">
            <a:extLst xmlns:a="http://schemas.openxmlformats.org/drawingml/2006/main">
              <a:ext uri="{FF2B5EF4-FFF2-40B4-BE49-F238E27FC236}">
                <a16:creationId xmlns:a16="http://schemas.microsoft.com/office/drawing/2014/main" id="{ED04B00A-11EF-48C7-9B08-3E91ECAE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CKAN</a:t>
            </a:r>
          </a:p>
        </p:txBody>
      </p:sp>
      <p:sp>
        <p:nvSpPr>
          <p:cNvPr id="49" name="family-socrata">
            <a:extLst xmlns:a="http://schemas.openxmlformats.org/drawingml/2006/main">
              <a:ext uri="{FF2B5EF4-FFF2-40B4-BE49-F238E27FC236}">
                <a16:creationId xmlns:a16="http://schemas.microsoft.com/office/drawing/2014/main" id="{CAABA887-7EB7-4212-96E1-6C90579F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811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Socrata</a:t>
            </a:r>
          </a:p>
        </p:txBody>
      </p:sp>
      <p:sp>
        <p:nvSpPr>
          <p:cNvPr id="50" name="family-datajson">
            <a:extLst xmlns:a="http://schemas.openxmlformats.org/drawingml/2006/main">
              <a:ext uri="{FF2B5EF4-FFF2-40B4-BE49-F238E27FC236}">
                <a16:creationId xmlns:a16="http://schemas.microsoft.com/office/drawing/2014/main" id="{1E3A9A6A-8D5B-41A5-9D6F-7D49066B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4288">
            <a:solidFill>
              <a:srgbClr val="68AFE7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data.json / DCAT</a:t>
            </a:r>
          </a:p>
        </p:txBody>
      </p:sp>
      <p:sp>
        <p:nvSpPr>
          <p:cNvPr id="51" name="family-web">
            <a:extLst xmlns:a="http://schemas.openxmlformats.org/drawingml/2006/main">
              <a:ext uri="{FF2B5EF4-FFF2-40B4-BE49-F238E27FC236}">
                <a16:creationId xmlns:a16="http://schemas.microsoft.com/office/drawing/2014/main" id="{21AFD381-F253-4012-AD97-860E811C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1571625" cy="3238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4288">
            <a:solidFill>
              <a:srgbClr val="F6E6EA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Generic websites</a:t>
            </a:r>
          </a:p>
        </p:txBody>
      </p:sp>
      <p:sp>
        <p:nvSpPr>
          <p:cNvPr id="52" name="collection-rule">
            <a:extLst xmlns:a="http://schemas.openxmlformats.org/drawingml/2006/main">
              <a:ext uri="{FF2B5EF4-FFF2-40B4-BE49-F238E27FC236}">
                <a16:creationId xmlns:a16="http://schemas.microsoft.com/office/drawing/2014/main" id="{5BF8105B-4102-4CEE-A7F8-5E8A716F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The catalogue retains only datasets accepted by the page classifier and backed by at least one valid distribution.</a:t>
            </a:r>
          </a:p>
        </p:txBody>
      </p:sp>
      <p:cxnSp>
        <p:nvCxnSpPr>
          <p:cNvPr id="100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1857375" y="21526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33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1857375" y="3486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5750" y="2152650"/>
            <a:ext cx="666750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 flipV="1">
            <a:off x="4095750" y="2867025"/>
            <a:ext cx="666750" cy="619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77000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5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429625" y="28670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38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10382250" y="2867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43A0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5388307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FA65A7-A3C2-45A9-8421-BDF0A175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IMPLEMENTATION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76FCAC3-CFD8-471B-BC0E-8A9C2B3C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EC6D0A-44BF-4FD9-B413-DB00D51C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42836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 and API contracts</a:t>
            </a:r>
            <a:endParaRPr sz="3600"/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622822f74b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4794069-D015-4D71-B5C4-EDA056AF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9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2F7B88A-71F9-49DB-95D7-84FFF207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C15C945-7DA3-44EF-BCBD-4ADBA9D2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React/Vite</a:t>
            </a:r>
            <a:endParaRPr sz="1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18712F4-219D-483F-B3D7-65AD04C6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7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Frontend interface, progressive status and result display</a:t>
            </a:r>
            <a:endParaRPr sz="105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78044BC-0E51-44F8-BFBB-6FB4AD10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282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460D037-E1D4-465D-B2A6-FB6897C6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FastAPI</a:t>
            </a:r>
            <a:endParaRPr sz="16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ABDA486-F4CC-4F1C-88E3-D257BAFC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741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HTTP validation, routes and job orchestration</a:t>
            </a:r>
            <a:endParaRPr sz="105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E3ECAFB8-E82F-4389-A9F2-04917E4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7460" y="216306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AAAFF6-C793-4518-B309-74170F8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31851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DEF40EB5-32F9-418E-8832-3F314F26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2052" y="259283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Search, sources, jobs, datasets and distributions</a:t>
            </a:r>
            <a:endParaRPr sz="105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BBB4CAC0-5638-45FF-A7AA-657F5898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EAA6D4AB-088D-46A8-A165-2169EC1C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Python collector</a:t>
            </a:r>
            <a:endParaRPr sz="16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9D1F078-FBBA-4D8E-A267-A2476F2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Discovery, extraction, classification and validation</a:t>
            </a:r>
            <a:endParaRPr sz="10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AE4F8172-36FA-4312-A75A-473ACFD9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466084"/>
            <a:ext cx="2423160" cy="914400"/>
          </a:xfrm>
          <a:prstGeom xmlns:a="http://schemas.openxmlformats.org/drawingml/2006/main" prst="roundRect">
            <a:avLst>
              <a:gd name="adj" fmla="val 13000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C5FDDC1-09B6-4B2E-B633-489414E4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621532"/>
            <a:ext cx="2057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EPFL RCP</a:t>
            </a:r>
            <a:endParaRPr sz="16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06A99F88-CF33-4037-97C3-38B5DEA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992" y="3895852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LLM-based relevance and page classification</a:t>
            </a:r>
            <a:endParaRPr sz="105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8730463-8D93-4186-8B21-3CDDE87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386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525" tIns="9525" rIns="9525" bIns="9525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1">
                <a:solidFill>
                  <a:srgbClr val="0C43A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Main API entry points</a:t>
            </a:r>
            <a:endParaRPr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4E3A07D6-19A4-4C02-8CA0-1BD3F6D1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000625"/>
            <a:ext cx="1069848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9050" tIns="19050" rIns="19050" bIns="19050" anchor="t">
            <a:normAutofit lnSpcReduction="2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and fallback   POST /collector/search-datasets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+ reserve   POST /collector/classify-repository-result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Track collection   GET /collector/collection-jobs/{id}</a:t>
            </a:r>
            <a:endParaRPr sz="1600"/>
          </a:p>
          <a:p xmlns:a="http://schemas.openxmlformats.org/drawingml/2006/main">
            <a:pPr marL="0" indent="0" algn="l">
              <a:buNone/>
              <a:defRPr sz="135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11111"/>
                </a:solidFill>
                <a:latin typeface="Aptos"/>
                <a:ea typeface="Aptos"/>
                <a:cs typeface="Aptos"/>
              </a:rPr>
              <a:t>Inspect catalogue   GET /collector/collected-datasets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5366619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DEF1094-450A-435B-8B9D-DACD35BB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CURRENT STATUS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ADB7436-0C48-49B5-8604-63BD3DF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15AC3A3-FB33-4848-9E6D-540A6063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Implemented capabilities in the MVP</a:t>
            </a:r>
            <a:endParaRPr sz="36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d108055ef541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6C7DD8-3F7E-474B-A274-6732631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0A2B42AE-E164-43F4-8930-143A9E39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B2F71A9-7088-4A64-BDC0-820D12CB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Search previously collected datasets in PostgreSQL</a:t>
            </a:r>
            <a:endParaRPr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4AD87789-2544-480B-AADC-A5A3884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4CCAB71-DD64-41AC-9F71-85A3E1A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Fall back to DataCite when no local result is found</a:t>
            </a:r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118BA90E-B739-4707-8165-FAF153C9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B2E8046-9B4D-4EED-A537-69E0A2573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external candidates and automatically collect accepted results</a:t>
            </a:r>
            <a:endParaRPr sz="1600"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776E8A9F-4FBD-4876-90DF-D05FCF87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92024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96537BC-6DF7-4D24-B930-1C5B84B4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874520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Discover pages from CKAN, Socrata, data.json/DCAT and websites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63F6814-6405-4CD8-91E7-08FE73F1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7706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67FCB5D-9B0C-4359-AB82-B2A4D0CA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724912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8262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Classify dataset pages and validate download/API links</a:t>
            </a:r>
            <a:endParaRPr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99A24CB-D8BF-4FF3-B8E8-5AC416FD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210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FA7AEAF-CAF2-4EDA-88FE-00F2F4D4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575304"/>
            <a:ext cx="4663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111111"/>
                </a:solidFill>
                <a:latin typeface="Aptos"/>
                <a:ea typeface="Aptos"/>
                <a:cs typeface="Aptos"/>
              </a:rPr>
              <a:t>Persist only datasets that pass every validation gate</a:t>
            </a:r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85F358C-2351-4E2F-8D0C-069B132F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56048"/>
            <a:ext cx="9921240" cy="658368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0C43A0"/>
          </a:solidFill>
          <a:ln xmlns:a="http://schemas.openxmlformats.org/drawingml/2006/main" w="1270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5313DDF-88DA-49F3-A3FF-BFE5695E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75504"/>
            <a:ext cx="9326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Status: under active development; current catalogue contains seeded official sources but does not yet guarantee source officiality for every collected dataset.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294703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1A6901-8CFE-47CC-8BD2-94B8A9A7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QUALITY GATES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A95CF15-EC1F-43A9-8CFE-A3B6F0DD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98943D5-EFD7-45EB-B9E8-6DE59754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Validation and bounded execution</a:t>
            </a:r>
            <a:endParaRPr sz="3600"/>
          </a:p>
        </p:txBody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322911053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904FFD6-880E-45AC-AB0B-8ABEB60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246A2FA6-56A2-4B7E-B0B8-506E0C00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6E6EA"/>
          </a:solidFill>
          <a:ln xmlns:a="http://schemas.openxmlformats.org/drawingml/2006/main" w="12700">
            <a:solidFill>
              <a:srgbClr val="F6E6E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87A7ADB4-6062-47A0-A182-DBBCCD56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AE3156"/>
                </a:solidFill>
                <a:latin typeface="Georgia"/>
                <a:ea typeface="Georgia"/>
                <a:cs typeface="Georgia"/>
              </a:rPr>
              <a:t>A</a:t>
            </a:r>
            <a:endParaRPr sz="28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283D93F-CAC9-4980-AE80-FDA36606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Page classification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EF94360-27E7-4538-A200-EE3ECF72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page classifier checks whether a discovered page is an individual health-relevant dataset record.</a:t>
            </a:r>
            <a:endParaRPr sz="16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E6B7608A-1407-4446-8927-369490CB8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3C2"/>
          </a:solidFill>
          <a:ln xmlns:a="http://schemas.openxmlformats.org/drawingml/2006/main" w="12700">
            <a:solidFill>
              <a:srgbClr val="FFF3C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529BD31-F67A-4F04-B513-30D50EBD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EBA547"/>
                </a:solidFill>
                <a:latin typeface="Georgia"/>
                <a:ea typeface="Georgia"/>
                <a:cs typeface="Georgia"/>
              </a:rPr>
              <a:t>B</a:t>
            </a:r>
            <a:endParaRPr sz="28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8BF58D8-8403-4914-ACEE-AF6B453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Distribution validation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BAFB2A3-F996-48A8-92F5-9AC80119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087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 requests and bounded partial GETs verify link availability and avoid retaining HTML as data files.</a:t>
            </a:r>
            <a:endParaRPr sz="16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653734B-295A-444E-BC13-0F2753A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874520"/>
            <a:ext cx="3337560" cy="283464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DEFFB"/>
          </a:solidFill>
          <a:ln xmlns:a="http://schemas.openxmlformats.org/drawingml/2006/main" w="12700">
            <a:solidFill>
              <a:srgbClr val="DDEFF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260B3C68-2AD5-44FC-AAF3-C9FA4A5D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103120"/>
            <a:ext cx="502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C43A0"/>
                </a:solidFill>
                <a:latin typeface="Georgia"/>
                <a:ea typeface="Georgia"/>
                <a:cs typeface="Georgia"/>
              </a:rPr>
              <a:t>C</a:t>
            </a:r>
            <a:endParaRPr sz="28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8F40D8B8-C794-466F-8B4F-1D25D1B4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2651760"/>
            <a:ext cx="2825496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Network safety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E736B02-2A08-487C-B0E9-5BD77107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3044952"/>
            <a:ext cx="2825496" cy="1481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27" tIns="127" rIns="127" bIns="127" anchor="t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HTTP guards reject private/local destinations and re-check redirect targets.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FBEEDFA7-E483-4988-8D3F-8379C16A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4924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rgbClr val="5C6670"/>
                </a:solidFill>
                <a:latin typeface="Aptos"/>
                <a:ea typeface="Aptos"/>
                <a:cs typeface="Aptos"/>
              </a:rPr>
              <a:t>Design principle: fail visibly rather than silently accepting uncertain or malformed results.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14964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EFF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5D25220-1F75-413C-8A64-74F9A0AB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LIMITATIONS &amp; FUTURE WORK</a:t>
            </a:r>
            <a:endParaRPr sz="16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386AFE5-5573-425D-8FEB-40F29346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13232"/>
            <a:ext cx="108813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C6C6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EB81D9-54A6-4E1C-B797-996CB26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850392"/>
            <a:ext cx="877824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What remains to be improved</a:t>
            </a:r>
            <a:endParaRPr sz="36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000d8e61f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1520"/>
            <a:ext cx="1508760" cy="209959"/>
          </a:xfrm>
          <a:prstGeom xmlns:a="http://schemas.openxmlformats.org/drawingml/2006/main" prst="rect">
            <a:avLst/>
          </a:prstGeom>
        </p:spPr>
      </p:pic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70699C-22F0-4BAC-84C0-6727EC7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  <a:endParaRPr sz="100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93C84F9D-B92B-4418-8E1D-3ABCD7BA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AE31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F02CA7B-2A74-462D-A3F7-8911302D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AE3156"/>
                </a:solidFill>
                <a:latin typeface="Aptos"/>
                <a:ea typeface="Aptos"/>
                <a:cs typeface="Aptos"/>
              </a:rPr>
              <a:t>Current limitations</a:t>
            </a:r>
            <a:endParaRPr sz="2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F204D5-D72C-4FF1-8B85-2B7776A6F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 fontScale="92857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Source authority and licensing policies are not fully enforced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One repository provider and one RCP voter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Deduplication relies on the normalized dataset URL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Background jobs are process-local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No authentication, monitoring or human review workflow</a:t>
            </a:r>
            <a:endParaRPr sz="16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BF0DB460-4B67-44E3-B08B-7003BDFB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5166360" cy="338328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C43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3DAC770-5885-4A9D-A837-EBBCE816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103120"/>
            <a:ext cx="29260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Next steps</a:t>
            </a:r>
            <a:endParaRPr sz="20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A3A2C4F8-4233-415C-9947-76A9F3BE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606040"/>
            <a:ext cx="443484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54" tIns="254" rIns="254" bIns="254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Evaluate additional repository providers and independent models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Strengthen official-source and licensing checks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Add a durable worker queue and retry policy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Improve deduplication by DOI, title and version</a:t>
            </a:r>
            <a:endParaRPr sz="1600"/>
          </a:p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 Harden production deployment and add a review interface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7087310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C43A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A68575-1E08-4188-B162-9CC35725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4350"/>
            <a:ext cx="310896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>
                <a:solidFill>
                  <a:srgbClr val="FFFFFF"/>
                </a:solidFill>
                <a:latin typeface="Aptos"/>
                <a:ea typeface="Aptos"/>
                <a:cs typeface="Aptos"/>
              </a:rPr>
              <a:t>Key takeaway</a:t>
            </a:r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E3B0C2-868D-43DF-BE76-AF97820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90625"/>
            <a:ext cx="10001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catalogue turns scattered dataset pages into searchable metadata.</a:t>
            </a:r>
            <a:endParaRPr sz="4000"/>
          </a:p>
          <a:p xmlns:a="http://schemas.openxmlformats.org/drawingml/2006/main">
            <a:pPr marL="0" indent="0" algn="l">
              <a:buNone/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Every saved record passes automated classification and link validation.</a:t>
            </a:r>
            <a:endParaRPr sz="4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C77647D-CF07-4D75-B625-4FC9FA7F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68AFE7"/>
          </a:solidFill>
          <a:ln xmlns:a="http://schemas.openxmlformats.org/drawingml/2006/main" w="12700">
            <a:solidFill>
              <a:srgbClr val="68AFE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A70ED1-6AE2-4C1E-9CA1-C3C3135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React frontend</a:t>
            </a:r>
            <a:endParaRPr sz="16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B6E3F7A-BE72-4814-AAF7-B0B80D43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>
              <a:alpha val="95000"/>
            </a:srgbClr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68430C-0C87-45D9-B262-2BDADC34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0C43A0"/>
                </a:solidFill>
                <a:latin typeface="Aptos"/>
                <a:ea typeface="Aptos"/>
                <a:cs typeface="Aptos"/>
              </a:rPr>
              <a:t>FastAPI + collector</a:t>
            </a:r>
            <a:endParaRPr sz="16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36A36DA-71A5-48DC-914B-F87A35D8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70832"/>
            <a:ext cx="2788920" cy="64008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6D54D"/>
          </a:solidFill>
          <a:ln xmlns:a="http://schemas.openxmlformats.org/drawingml/2006/main" w="12700">
            <a:solidFill>
              <a:srgbClr val="F6D5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C0ADD7B-B86F-4484-AAA9-A7AE7D55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4590288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PostgreSQL catalog</a:t>
            </a:r>
            <a:endParaRPr sz="1600"/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5d9e3f7d8d4b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6180784"/>
            <a:ext cx="1508760" cy="211433"/>
          </a:xfrm>
          <a:prstGeom xmlns:a="http://schemas.openxmlformats.org/drawingml/2006/main" prst="rect">
            <a:avLst/>
          </a:prstGeom>
        </p:spPr>
      </p:pic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BEFD206-444C-402C-B45E-DE4B8107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7160" y="6172200"/>
            <a:ext cx="228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3931857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2026-09-07T13:01:41.5330000Z</dcterms:created>
  <dcterms:modified xsi:type="dcterms:W3CDTF">2026-09-07T13:01:41.5330000Z</dcterms:modified>
</coreProperties>
</file>